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नमस्ते जजेज! क्या आपने कभी सोचा है कि जब एक मूक-बधिर साथी कॉलेज एडमिशन, बैंक काउंटर या अस्पताल जाता है, तो उसे अपनी बात समझाने के लिए कितना संघर्ष करना पड़ता है? आज हम प्रस्तुत कर रहे हैं "बोली-साइन" — एक ऐसा क्रांतिकारी वेब AI जो बिना किसी महंगे सेंसर के, साधारण फोन कैमरे से ही हाथ के इशारों को शुद्ध प्राकृतिक हिंदी आवाज़ में बदलता 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समस्या यह है कि भारत में 1.8 करोड़ मूक-बधिर नागरिक हैं, लेकिन 20,000 लोगों पर सिर्फ 1 इंटरप्रेटर उपलब्ध है। जब कोई छात्र कॉलेज कैंटीन, लाइब्रेरी या एडमिन ब्लॉक में जाता है, तो सामने वाला कर्मचारी उसका इशारा समझ नहीं पाता। बाजार में जो समाधान हैं, वे या तो अमेरिकी साइन लैंग्वेज (ASL) के हैं या 30,000 रुपये के भारी सेंसर दस्तानों (Gloves) की मांग करते 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जब हमने रिसर्च की, तो देखा कि हार्डवेयर ग्लव्स 25,000 रुपये के आते हैं और पहनने में असहज होते हैं। पुराने ऐप्स सिर्फ अंग्रेजी अक्षर (A, B, C) दिखाते हैं। जबकि असली सांकेतिक भाषा में स्थान का महत्व है — जैसे ठोड़ी पर हाथ रखना "दादी" है और माथे पर हाथ रखना "चाचा/पिताजी"। BoliSign पहला ऐसा सिस्टम है जो बिना किसी ग्लव्स के चेहरे और शरीर के संदर्भ को समझता 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हमारी तकनीकी वास्तुकला 3 इंजनों पर टिकी है: पहला इंजन है बॉडी एंकर — 21 लैंडमार्क के साथ चेहरे और छाती की पोजीशन को ट्रैक करता है। दूसरा इंजन है मोशन वेक्टर — जो हाथ के हिलने की दिशा और गति को नापता है, जिससे पोज़ के दौरान हाथ के छोटे-मोटे कंपन से गलत आवाज़ न निकले। और तीसरा इंजन है जेनेरेटिव AI — जो अलग-अलग साइन को जोड़कर व्याकरण के साथ पूरा हिंदी वाक्य बनाता 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हैकथॉन का सबसे बड़ा नवाचार हमारा "3-स्टेप साइन स्टूडियो" है। जब किसी कॉलेज में नया विभाग बनता है (जैसे कैंटीन या रोबोटिक्स लैब), तो कर्मचारी 15 सेकंड में AI को नया साइन सिखा सकता है। वेब ऑडियो 3-2-1 बीप टाइमर देता है ताकि हाथ में माउस पकड़े बिना पोज़ लॉक हो सके, और कंफ्लिक्ट चेकर पुराने साइन्स से टकराव रोकता 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संवाद कभी एकतरफा नहीं होता। अगर मूक-बधिर छात्र ने अपनी बात कह दी, लेकिन क्लर्क के जवाब को वह नहीं सुन पाया, तो बात अधूरी रह जाएगी। इसीलिए हमने BoliSign में "रिवर्स मोड (Two-Way Hub)" दिया है। क्लर्क माइक दबाकर बोलेगा, और मूक-बधिर साथी के पढ़ने के लिए स्क्रीन पर तुरंत बड़े अक्षरों में हिंदी टेक्स्ट आ जाएगा।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अब हम आपको लाइव डेमो दिखाने जा रहे हैं। सबसे पहले हम नमस्ते करेंगे, फिर कॉलेज का लाइब्रेरी साइन, माथे का फैमिली साइन, और फिर आपातकालीन SOS साइन। इसके बाद हम एक नया कस्टम साइन 10 सेकंड में AI को सिखाकर तुरंत पहचान कर दिखाएंगे!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हमारा विजन केवल एक प्रोजेक्ट तक सीमित नहीं है। चूंकि BoliSign किसी भी साधारण ब्राउज़र पर बिना ऐप डाउनलोड किए चलता है, इसे भारत के किसी भी विश्वविद्यालय, रेलवे टिकट काउंटर, बैंक और सरकारी सेवा केंद्र पर तुरंत एक्टिव किया जा सकता है। यह "डिजिटल इंडिया" और "सुगम्य भारत अभियान" का सच्चा प्रतीक 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तकनीकी दृष्टि से, हमने भारी पाइथन सर्वर के बजाय 100% क्लाइंट-साइड मीडियापाइप और नेक्स्ट.जेएस 14 का उपयोग किया है। इससे सर्वर का खर्च शून्य हो जाता है और डेटा प्राइवेसी 100% सुरक्षित रहती है क्योंकि वीडियो कभी यूजर के फोन या लैपटॉप से बाहर नहीं जाता।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धन्यवाद जजेज! हम अब आपको लाइव सिस्टम पर ले चलते हैं जहाँ आप खुद कैमरा के सामने आकर इसका अनुभव कर सकते हैं। आपके सभी प्रश्नों का स्वागत 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C1B"/>
        </a:solidFill>
      </p:bgPr>
    </p:bg>
    <p:spTree>
      <p:nvGrpSpPr>
        <p:cNvPr id="1" name=""/>
        <p:cNvGrpSpPr/>
        <p:nvPr/>
      </p:nvGrpSpPr>
      <p:grpSpPr>
        <a:xfrm>
          <a:off x="0" y="0"/>
          <a:ext cx="0" cy="0"/>
          <a:chOff x="0" y="0"/>
          <a:chExt cx="0" cy="0"/>
        </a:xfrm>
      </p:grpSpPr>
      <p:sp>
        <p:nvSpPr>
          <p:cNvPr id="2" name="Shape 0"/>
          <p:cNvSpPr/>
          <p:nvPr/>
        </p:nvSpPr>
        <p:spPr>
          <a:xfrm>
            <a:off x="0" y="0"/>
            <a:ext cx="12188952" cy="137160"/>
          </a:xfrm>
          <a:prstGeom prst="rect">
            <a:avLst/>
          </a:prstGeom>
          <a:solidFill>
            <a:srgbClr val="10B981"/>
          </a:solidFill>
          <a:ln/>
        </p:spPr>
      </p:sp>
      <p:sp>
        <p:nvSpPr>
          <p:cNvPr id="3" name="Shape 1"/>
          <p:cNvSpPr/>
          <p:nvPr/>
        </p:nvSpPr>
        <p:spPr>
          <a:xfrm>
            <a:off x="4261104" y="1005840"/>
            <a:ext cx="3657600" cy="411480"/>
          </a:xfrm>
          <a:prstGeom prst="roundRect">
            <a:avLst>
              <a:gd name="adj" fmla="val 44444"/>
            </a:avLst>
          </a:prstGeom>
          <a:solidFill>
            <a:srgbClr val="1E293B"/>
          </a:solidFill>
          <a:ln w="12700">
            <a:solidFill>
              <a:srgbClr val="38BDF8"/>
            </a:solidFill>
            <a:prstDash val="solid"/>
          </a:ln>
        </p:spPr>
      </p:sp>
      <p:sp>
        <p:nvSpPr>
          <p:cNvPr id="4" name="Text 2"/>
          <p:cNvSpPr/>
          <p:nvPr/>
        </p:nvSpPr>
        <p:spPr>
          <a:xfrm>
            <a:off x="4261104" y="1005840"/>
            <a:ext cx="3657600" cy="411480"/>
          </a:xfrm>
          <a:prstGeom prst="rect">
            <a:avLst/>
          </a:prstGeom>
          <a:noFill/>
          <a:ln/>
        </p:spPr>
        <p:txBody>
          <a:bodyPr wrap="square" rtlCol="0" anchor="ctr"/>
          <a:lstStyle/>
          <a:p>
            <a:pPr algn="ctr" indent="0" marL="0">
              <a:buNone/>
            </a:pPr>
            <a:r>
              <a:rPr lang="en-US" sz="1100" b="1" dirty="0">
                <a:solidFill>
                  <a:srgbClr val="38BDF8"/>
                </a:solidFill>
                <a:latin typeface="Arial" pitchFamily="34" charset="0"/>
                <a:ea typeface="Arial" pitchFamily="34" charset="-122"/>
                <a:cs typeface="Arial" pitchFamily="34" charset="-120"/>
              </a:rPr>
              <a:t>🏆 AI FOR SOCIAL GOOD • HACKATHON 2026</a:t>
            </a:r>
            <a:endParaRPr lang="en-US" sz="1100" dirty="0"/>
          </a:p>
        </p:txBody>
      </p:sp>
      <p:sp>
        <p:nvSpPr>
          <p:cNvPr id="5" name="Text 3"/>
          <p:cNvSpPr/>
          <p:nvPr/>
        </p:nvSpPr>
        <p:spPr>
          <a:xfrm>
            <a:off x="914400" y="1645920"/>
            <a:ext cx="10360152" cy="1463040"/>
          </a:xfrm>
          <a:prstGeom prst="rect">
            <a:avLst/>
          </a:prstGeom>
          <a:noFill/>
          <a:ln/>
        </p:spPr>
        <p:txBody>
          <a:bodyPr wrap="square" rtlCol="0" anchor="ctr"/>
          <a:lstStyle/>
          <a:p>
            <a:pPr algn="ctr" indent="0" marL="0">
              <a:buNone/>
            </a:pPr>
            <a:r>
              <a:rPr lang="en-US" sz="3800" b="1" dirty="0">
                <a:solidFill>
                  <a:srgbClr val="F8FAFC"/>
                </a:solidFill>
                <a:latin typeface="Arial" pitchFamily="34" charset="0"/>
                <a:ea typeface="Arial" pitchFamily="34" charset="-122"/>
                <a:cs typeface="Arial" pitchFamily="34" charset="-120"/>
              </a:rPr>
              <a:t>हाथों के इशारों को मिली आवाज़,</a:t>
            </a:r>
            <a:endParaRPr lang="en-US" sz="3800" dirty="0"/>
          </a:p>
          <a:p>
            <a:pPr algn="ctr" indent="0" marL="0">
              <a:buNone/>
            </a:pPr>
            <a:r>
              <a:rPr lang="en-US" sz="3800" b="1" dirty="0">
                <a:solidFill>
                  <a:srgbClr val="F8FAFC"/>
                </a:solidFill>
                <a:latin typeface="Arial" pitchFamily="34" charset="0"/>
                <a:ea typeface="Arial" pitchFamily="34" charset="-122"/>
                <a:cs typeface="Arial" pitchFamily="34" charset="-120"/>
              </a:rPr>
              <a:t>बोली-साइन (BoliSign) के साथ</a:t>
            </a:r>
            <a:endParaRPr lang="en-US" sz="3800" dirty="0"/>
          </a:p>
        </p:txBody>
      </p:sp>
      <p:sp>
        <p:nvSpPr>
          <p:cNvPr id="6" name="Text 4"/>
          <p:cNvSpPr/>
          <p:nvPr/>
        </p:nvSpPr>
        <p:spPr>
          <a:xfrm>
            <a:off x="1371600" y="3291840"/>
            <a:ext cx="9445752" cy="731520"/>
          </a:xfrm>
          <a:prstGeom prst="rect">
            <a:avLst/>
          </a:prstGeom>
          <a:noFill/>
          <a:ln/>
        </p:spPr>
        <p:txBody>
          <a:bodyPr wrap="square" rtlCol="0" anchor="ctr"/>
          <a:lstStyle/>
          <a:p>
            <a:pPr algn="ctr" indent="0" marL="0">
              <a:buNone/>
            </a:pPr>
            <a:r>
              <a:rPr lang="en-US" sz="1500" dirty="0">
                <a:solidFill>
                  <a:srgbClr val="94A3B8"/>
                </a:solidFill>
                <a:latin typeface="Arial" pitchFamily="34" charset="0"/>
                <a:ea typeface="Arial" pitchFamily="34" charset="-122"/>
                <a:cs typeface="Arial" pitchFamily="34" charset="-120"/>
              </a:rPr>
              <a:t>Breaking the Silence with Real-Time ISL to Natural Hindi Speech</a:t>
            </a:r>
            <a:endParaRPr lang="en-US" sz="1500" dirty="0"/>
          </a:p>
          <a:p>
            <a:pPr algn="ctr" indent="0" marL="0">
              <a:buNone/>
            </a:pPr>
            <a:r>
              <a:rPr lang="en-US" sz="1500" dirty="0">
                <a:solidFill>
                  <a:srgbClr val="94A3B8"/>
                </a:solidFill>
                <a:latin typeface="Arial" pitchFamily="34" charset="0"/>
                <a:ea typeface="Arial" pitchFamily="34" charset="-122"/>
                <a:cs typeface="Arial" pitchFamily="34" charset="-120"/>
              </a:rPr>
              <a:t>Zero-Hardware • 100% Client-Side Web • Two-Way Communication</a:t>
            </a:r>
            <a:endParaRPr lang="en-US" sz="1500" dirty="0"/>
          </a:p>
        </p:txBody>
      </p:sp>
      <p:sp>
        <p:nvSpPr>
          <p:cNvPr id="7" name="Shape 5"/>
          <p:cNvSpPr/>
          <p:nvPr/>
        </p:nvSpPr>
        <p:spPr>
          <a:xfrm>
            <a:off x="1463040" y="4389120"/>
            <a:ext cx="2926080" cy="1645920"/>
          </a:xfrm>
          <a:prstGeom prst="roundRect">
            <a:avLst>
              <a:gd name="adj" fmla="val 8333"/>
            </a:avLst>
          </a:prstGeom>
          <a:solidFill>
            <a:srgbClr val="1C2541"/>
          </a:solidFill>
          <a:ln w="19050">
            <a:solidFill>
              <a:srgbClr val="38BDF8"/>
            </a:solidFill>
            <a:prstDash val="solid"/>
          </a:ln>
        </p:spPr>
      </p:sp>
      <p:sp>
        <p:nvSpPr>
          <p:cNvPr id="8" name="Text 6"/>
          <p:cNvSpPr/>
          <p:nvPr/>
        </p:nvSpPr>
        <p:spPr>
          <a:xfrm>
            <a:off x="1463040" y="4526280"/>
            <a:ext cx="2926080" cy="594360"/>
          </a:xfrm>
          <a:prstGeom prst="rect">
            <a:avLst/>
          </a:prstGeom>
          <a:noFill/>
          <a:ln/>
        </p:spPr>
        <p:txBody>
          <a:bodyPr wrap="square" rtlCol="0" anchor="ctr"/>
          <a:lstStyle/>
          <a:p>
            <a:pPr algn="ctr" indent="0" marL="0">
              <a:buNone/>
            </a:pPr>
            <a:r>
              <a:rPr lang="en-US" sz="2600" b="1" dirty="0">
                <a:solidFill>
                  <a:srgbClr val="38BDF8"/>
                </a:solidFill>
                <a:latin typeface="Arial" pitchFamily="34" charset="0"/>
                <a:ea typeface="Arial" pitchFamily="34" charset="-122"/>
                <a:cs typeface="Arial" pitchFamily="34" charset="-120"/>
              </a:rPr>
              <a:t>₹0</a:t>
            </a:r>
            <a:endParaRPr lang="en-US" sz="2600" dirty="0"/>
          </a:p>
        </p:txBody>
      </p:sp>
      <p:sp>
        <p:nvSpPr>
          <p:cNvPr id="9" name="Text 7"/>
          <p:cNvSpPr/>
          <p:nvPr/>
        </p:nvSpPr>
        <p:spPr>
          <a:xfrm>
            <a:off x="1463040" y="5120640"/>
            <a:ext cx="2926080" cy="365760"/>
          </a:xfrm>
          <a:prstGeom prst="rect">
            <a:avLst/>
          </a:prstGeom>
          <a:noFill/>
          <a:ln/>
        </p:spPr>
        <p:txBody>
          <a:bodyPr wrap="square" rtlCol="0" anchor="ctr"/>
          <a:lstStyle/>
          <a:p>
            <a:pPr algn="ctr" indent="0" marL="0">
              <a:buNone/>
            </a:pPr>
            <a:r>
              <a:rPr lang="en-US" sz="1200" b="1" dirty="0">
                <a:solidFill>
                  <a:srgbClr val="F8FAFC"/>
                </a:solidFill>
                <a:latin typeface="Arial" pitchFamily="34" charset="0"/>
                <a:ea typeface="Arial" pitchFamily="34" charset="-122"/>
                <a:cs typeface="Arial" pitchFamily="34" charset="-120"/>
              </a:rPr>
              <a:t>Zero Hardware Cost</a:t>
            </a:r>
            <a:endParaRPr lang="en-US" sz="1200" dirty="0"/>
          </a:p>
        </p:txBody>
      </p:sp>
      <p:sp>
        <p:nvSpPr>
          <p:cNvPr id="10" name="Text 8"/>
          <p:cNvSpPr/>
          <p:nvPr/>
        </p:nvSpPr>
        <p:spPr>
          <a:xfrm>
            <a:off x="1645920" y="5486400"/>
            <a:ext cx="2560320" cy="411480"/>
          </a:xfrm>
          <a:prstGeom prst="rect">
            <a:avLst/>
          </a:prstGeom>
          <a:noFill/>
          <a:ln/>
        </p:spPr>
        <p:txBody>
          <a:bodyPr wrap="square" rtlCol="0" anchor="ctr"/>
          <a:lstStyle/>
          <a:p>
            <a:pPr algn="ctr" indent="0" marL="0">
              <a:buNone/>
            </a:pPr>
            <a:r>
              <a:rPr lang="en-US" sz="1000" dirty="0">
                <a:solidFill>
                  <a:srgbClr val="94A3B8"/>
                </a:solidFill>
                <a:latin typeface="Arial" pitchFamily="34" charset="0"/>
                <a:ea typeface="Arial" pitchFamily="34" charset="-122"/>
                <a:cs typeface="Arial" pitchFamily="34" charset="-120"/>
              </a:rPr>
              <a:t>Runs on Ordinary Smartphone / Web Cam</a:t>
            </a:r>
            <a:endParaRPr lang="en-US" sz="1000" dirty="0"/>
          </a:p>
        </p:txBody>
      </p:sp>
      <p:sp>
        <p:nvSpPr>
          <p:cNvPr id="11" name="Shape 9"/>
          <p:cNvSpPr/>
          <p:nvPr/>
        </p:nvSpPr>
        <p:spPr>
          <a:xfrm>
            <a:off x="4663440" y="4389120"/>
            <a:ext cx="2926080" cy="1645920"/>
          </a:xfrm>
          <a:prstGeom prst="roundRect">
            <a:avLst>
              <a:gd name="adj" fmla="val 8333"/>
            </a:avLst>
          </a:prstGeom>
          <a:solidFill>
            <a:srgbClr val="1C2541"/>
          </a:solidFill>
          <a:ln w="19050">
            <a:solidFill>
              <a:srgbClr val="10B981"/>
            </a:solidFill>
            <a:prstDash val="solid"/>
          </a:ln>
        </p:spPr>
      </p:sp>
      <p:sp>
        <p:nvSpPr>
          <p:cNvPr id="12" name="Text 10"/>
          <p:cNvSpPr/>
          <p:nvPr/>
        </p:nvSpPr>
        <p:spPr>
          <a:xfrm>
            <a:off x="4663440" y="4526280"/>
            <a:ext cx="2926080" cy="594360"/>
          </a:xfrm>
          <a:prstGeom prst="rect">
            <a:avLst/>
          </a:prstGeom>
          <a:noFill/>
          <a:ln/>
        </p:spPr>
        <p:txBody>
          <a:bodyPr wrap="square" rtlCol="0" anchor="ctr"/>
          <a:lstStyle/>
          <a:p>
            <a:pPr algn="ctr" indent="0" marL="0">
              <a:buNone/>
            </a:pPr>
            <a:r>
              <a:rPr lang="en-US" sz="2600" b="1" dirty="0">
                <a:solidFill>
                  <a:srgbClr val="10B981"/>
                </a:solidFill>
                <a:latin typeface="Arial" pitchFamily="34" charset="0"/>
                <a:ea typeface="Arial" pitchFamily="34" charset="-122"/>
                <a:cs typeface="Arial" pitchFamily="34" charset="-120"/>
              </a:rPr>
              <a:t>1.8 Cr+</a:t>
            </a:r>
            <a:endParaRPr lang="en-US" sz="2600" dirty="0"/>
          </a:p>
        </p:txBody>
      </p:sp>
      <p:sp>
        <p:nvSpPr>
          <p:cNvPr id="13" name="Text 11"/>
          <p:cNvSpPr/>
          <p:nvPr/>
        </p:nvSpPr>
        <p:spPr>
          <a:xfrm>
            <a:off x="4663440" y="5120640"/>
            <a:ext cx="2926080" cy="365760"/>
          </a:xfrm>
          <a:prstGeom prst="rect">
            <a:avLst/>
          </a:prstGeom>
          <a:noFill/>
          <a:ln/>
        </p:spPr>
        <p:txBody>
          <a:bodyPr wrap="square" rtlCol="0" anchor="ctr"/>
          <a:lstStyle/>
          <a:p>
            <a:pPr algn="ctr" indent="0" marL="0">
              <a:buNone/>
            </a:pPr>
            <a:r>
              <a:rPr lang="en-US" sz="1200" b="1" dirty="0">
                <a:solidFill>
                  <a:srgbClr val="F8FAFC"/>
                </a:solidFill>
                <a:latin typeface="Arial" pitchFamily="34" charset="0"/>
                <a:ea typeface="Arial" pitchFamily="34" charset="-122"/>
                <a:cs typeface="Arial" pitchFamily="34" charset="-120"/>
              </a:rPr>
              <a:t>Deaf &amp; Hard-of-Hearing</a:t>
            </a:r>
            <a:endParaRPr lang="en-US" sz="1200" dirty="0"/>
          </a:p>
        </p:txBody>
      </p:sp>
      <p:sp>
        <p:nvSpPr>
          <p:cNvPr id="14" name="Text 12"/>
          <p:cNvSpPr/>
          <p:nvPr/>
        </p:nvSpPr>
        <p:spPr>
          <a:xfrm>
            <a:off x="4846320" y="5486400"/>
            <a:ext cx="2560320" cy="411480"/>
          </a:xfrm>
          <a:prstGeom prst="rect">
            <a:avLst/>
          </a:prstGeom>
          <a:noFill/>
          <a:ln/>
        </p:spPr>
        <p:txBody>
          <a:bodyPr wrap="square" rtlCol="0" anchor="ctr"/>
          <a:lstStyle/>
          <a:p>
            <a:pPr algn="ctr" indent="0" marL="0">
              <a:buNone/>
            </a:pPr>
            <a:r>
              <a:rPr lang="en-US" sz="1000" dirty="0">
                <a:solidFill>
                  <a:srgbClr val="94A3B8"/>
                </a:solidFill>
                <a:latin typeface="Arial" pitchFamily="34" charset="0"/>
                <a:ea typeface="Arial" pitchFamily="34" charset="-122"/>
                <a:cs typeface="Arial" pitchFamily="34" charset="-120"/>
              </a:rPr>
              <a:t>Target Beneficiaries in India</a:t>
            </a:r>
            <a:endParaRPr lang="en-US" sz="1000" dirty="0"/>
          </a:p>
        </p:txBody>
      </p:sp>
      <p:sp>
        <p:nvSpPr>
          <p:cNvPr id="15" name="Shape 13"/>
          <p:cNvSpPr/>
          <p:nvPr/>
        </p:nvSpPr>
        <p:spPr>
          <a:xfrm>
            <a:off x="7863840" y="4389120"/>
            <a:ext cx="2926080" cy="1645920"/>
          </a:xfrm>
          <a:prstGeom prst="roundRect">
            <a:avLst>
              <a:gd name="adj" fmla="val 8333"/>
            </a:avLst>
          </a:prstGeom>
          <a:solidFill>
            <a:srgbClr val="1C2541"/>
          </a:solidFill>
          <a:ln w="19050">
            <a:solidFill>
              <a:srgbClr val="A855F7"/>
            </a:solidFill>
            <a:prstDash val="solid"/>
          </a:ln>
        </p:spPr>
      </p:sp>
      <p:sp>
        <p:nvSpPr>
          <p:cNvPr id="16" name="Text 14"/>
          <p:cNvSpPr/>
          <p:nvPr/>
        </p:nvSpPr>
        <p:spPr>
          <a:xfrm>
            <a:off x="7863840" y="4526280"/>
            <a:ext cx="2926080" cy="594360"/>
          </a:xfrm>
          <a:prstGeom prst="rect">
            <a:avLst/>
          </a:prstGeom>
          <a:noFill/>
          <a:ln/>
        </p:spPr>
        <p:txBody>
          <a:bodyPr wrap="square" rtlCol="0" anchor="ctr"/>
          <a:lstStyle/>
          <a:p>
            <a:pPr algn="ctr" indent="0" marL="0">
              <a:buNone/>
            </a:pPr>
            <a:r>
              <a:rPr lang="en-US" sz="2600" b="1" dirty="0">
                <a:solidFill>
                  <a:srgbClr val="A855F7"/>
                </a:solidFill>
                <a:latin typeface="Arial" pitchFamily="34" charset="0"/>
                <a:ea typeface="Arial" pitchFamily="34" charset="-122"/>
                <a:cs typeface="Arial" pitchFamily="34" charset="-120"/>
              </a:rPr>
              <a:t>&lt; 50ms</a:t>
            </a:r>
            <a:endParaRPr lang="en-US" sz="2600" dirty="0"/>
          </a:p>
        </p:txBody>
      </p:sp>
      <p:sp>
        <p:nvSpPr>
          <p:cNvPr id="17" name="Text 15"/>
          <p:cNvSpPr/>
          <p:nvPr/>
        </p:nvSpPr>
        <p:spPr>
          <a:xfrm>
            <a:off x="7863840" y="5120640"/>
            <a:ext cx="2926080" cy="365760"/>
          </a:xfrm>
          <a:prstGeom prst="rect">
            <a:avLst/>
          </a:prstGeom>
          <a:noFill/>
          <a:ln/>
        </p:spPr>
        <p:txBody>
          <a:bodyPr wrap="square" rtlCol="0" anchor="ctr"/>
          <a:lstStyle/>
          <a:p>
            <a:pPr algn="ctr" indent="0" marL="0">
              <a:buNone/>
            </a:pPr>
            <a:r>
              <a:rPr lang="en-US" sz="1200" b="1" dirty="0">
                <a:solidFill>
                  <a:srgbClr val="F8FAFC"/>
                </a:solidFill>
                <a:latin typeface="Arial" pitchFamily="34" charset="0"/>
                <a:ea typeface="Arial" pitchFamily="34" charset="-122"/>
                <a:cs typeface="Arial" pitchFamily="34" charset="-120"/>
              </a:rPr>
              <a:t>Ultra-Low Latency</a:t>
            </a:r>
            <a:endParaRPr lang="en-US" sz="1200" dirty="0"/>
          </a:p>
        </p:txBody>
      </p:sp>
      <p:sp>
        <p:nvSpPr>
          <p:cNvPr id="18" name="Text 16"/>
          <p:cNvSpPr/>
          <p:nvPr/>
        </p:nvSpPr>
        <p:spPr>
          <a:xfrm>
            <a:off x="8046720" y="5486400"/>
            <a:ext cx="2560320" cy="411480"/>
          </a:xfrm>
          <a:prstGeom prst="rect">
            <a:avLst/>
          </a:prstGeom>
          <a:noFill/>
          <a:ln/>
        </p:spPr>
        <p:txBody>
          <a:bodyPr wrap="square" rtlCol="0" anchor="ctr"/>
          <a:lstStyle/>
          <a:p>
            <a:pPr algn="ctr" indent="0" marL="0">
              <a:buNone/>
            </a:pPr>
            <a:r>
              <a:rPr lang="en-US" sz="1000" dirty="0">
                <a:solidFill>
                  <a:srgbClr val="94A3B8"/>
                </a:solidFill>
                <a:latin typeface="Arial" pitchFamily="34" charset="0"/>
                <a:ea typeface="Arial" pitchFamily="34" charset="-122"/>
                <a:cs typeface="Arial" pitchFamily="34" charset="-120"/>
              </a:rPr>
              <a:t>Edge-AI 30 FPS In-Browser Vision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0B981"/>
          </a:solidFill>
          <a:ln/>
        </p:spPr>
      </p:sp>
      <p:sp>
        <p:nvSpPr>
          <p:cNvPr id="3" name="Text 1"/>
          <p:cNvSpPr/>
          <p:nvPr/>
        </p:nvSpPr>
        <p:spPr>
          <a:xfrm>
            <a:off x="731520" y="411480"/>
            <a:ext cx="5486400" cy="32004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PROBLEM STATEMENT</a:t>
            </a:r>
            <a:endParaRPr lang="en-US" sz="1000" dirty="0"/>
          </a:p>
        </p:txBody>
      </p:sp>
      <p:sp>
        <p:nvSpPr>
          <p:cNvPr id="4" name="Text 2"/>
          <p:cNvSpPr/>
          <p:nvPr/>
        </p:nvSpPr>
        <p:spPr>
          <a:xfrm>
            <a:off x="731520" y="731520"/>
            <a:ext cx="10515600" cy="594360"/>
          </a:xfrm>
          <a:prstGeom prst="rect">
            <a:avLst/>
          </a:prstGeom>
          <a:noFill/>
          <a:ln/>
        </p:spPr>
        <p:txBody>
          <a:bodyPr wrap="square" rtlCol="0" anchor="ctr"/>
          <a:lstStyle/>
          <a:p>
            <a:pPr indent="0" marL="0">
              <a:buNone/>
            </a:pPr>
            <a:r>
              <a:rPr lang="en-US" sz="2600" b="1" dirty="0">
                <a:solidFill>
                  <a:srgbClr val="F8FAFC"/>
                </a:solidFill>
                <a:latin typeface="Arial" pitchFamily="34" charset="0"/>
                <a:ea typeface="Arial" pitchFamily="34" charset="-122"/>
                <a:cs typeface="Arial" pitchFamily="34" charset="-120"/>
              </a:rPr>
              <a:t>The Unspoken Crisis in India</a:t>
            </a:r>
            <a:endParaRPr lang="en-US" sz="2600" dirty="0"/>
          </a:p>
        </p:txBody>
      </p:sp>
      <p:sp>
        <p:nvSpPr>
          <p:cNvPr id="5" name="Text 3"/>
          <p:cNvSpPr/>
          <p:nvPr/>
        </p:nvSpPr>
        <p:spPr>
          <a:xfrm>
            <a:off x="731520" y="1325880"/>
            <a:ext cx="10515600" cy="36576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1.8 Crore citizens face a daily communication barrier at colleges, banks &amp; hospitals</a:t>
            </a:r>
            <a:endParaRPr lang="en-US" sz="1300" dirty="0"/>
          </a:p>
        </p:txBody>
      </p:sp>
      <p:sp>
        <p:nvSpPr>
          <p:cNvPr id="6" name="Text 4"/>
          <p:cNvSpPr/>
          <p:nvPr/>
        </p:nvSpPr>
        <p:spPr>
          <a:xfrm>
            <a:off x="731520" y="6492240"/>
            <a:ext cx="82296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बोली-साइन (BoliSign) • Real-Time ISL to Hindi Speech • Hackathon 2026</a:t>
            </a:r>
            <a:endParaRPr lang="en-US" sz="900" dirty="0"/>
          </a:p>
        </p:txBody>
      </p:sp>
      <p:sp>
        <p:nvSpPr>
          <p:cNvPr id="7" name="Shape 5"/>
          <p:cNvSpPr/>
          <p:nvPr/>
        </p:nvSpPr>
        <p:spPr>
          <a:xfrm>
            <a:off x="731520" y="1920240"/>
            <a:ext cx="3383280" cy="4114800"/>
          </a:xfrm>
          <a:prstGeom prst="roundRect">
            <a:avLst>
              <a:gd name="adj" fmla="val 4054"/>
            </a:avLst>
          </a:prstGeom>
          <a:solidFill>
            <a:srgbClr val="1C2541"/>
          </a:solidFill>
          <a:ln w="25400">
            <a:solidFill>
              <a:srgbClr val="EF4444"/>
            </a:solidFill>
            <a:prstDash val="solid"/>
          </a:ln>
        </p:spPr>
      </p:sp>
      <p:sp>
        <p:nvSpPr>
          <p:cNvPr id="8" name="Text 6"/>
          <p:cNvSpPr/>
          <p:nvPr/>
        </p:nvSpPr>
        <p:spPr>
          <a:xfrm>
            <a:off x="1005840" y="2194560"/>
            <a:ext cx="2834640" cy="731520"/>
          </a:xfrm>
          <a:prstGeom prst="rect">
            <a:avLst/>
          </a:prstGeom>
          <a:noFill/>
          <a:ln/>
        </p:spPr>
        <p:txBody>
          <a:bodyPr wrap="square" rtlCol="0" anchor="ctr"/>
          <a:lstStyle/>
          <a:p>
            <a:pPr indent="0" marL="0">
              <a:buNone/>
            </a:pPr>
            <a:r>
              <a:rPr lang="en-US" sz="3200" b="1" dirty="0">
                <a:solidFill>
                  <a:srgbClr val="EF4444"/>
                </a:solidFill>
                <a:latin typeface="Arial" pitchFamily="34" charset="0"/>
                <a:ea typeface="Arial" pitchFamily="34" charset="-122"/>
                <a:cs typeface="Arial" pitchFamily="34" charset="-120"/>
              </a:rPr>
              <a:t>1.8 Crore+</a:t>
            </a:r>
            <a:endParaRPr lang="en-US" sz="3200" dirty="0"/>
          </a:p>
        </p:txBody>
      </p:sp>
      <p:sp>
        <p:nvSpPr>
          <p:cNvPr id="9" name="Text 7"/>
          <p:cNvSpPr/>
          <p:nvPr/>
        </p:nvSpPr>
        <p:spPr>
          <a:xfrm>
            <a:off x="1005840" y="3017520"/>
            <a:ext cx="2834640" cy="457200"/>
          </a:xfrm>
          <a:prstGeom prst="rect">
            <a:avLst/>
          </a:prstGeom>
          <a:noFill/>
          <a:ln/>
        </p:spPr>
        <p:txBody>
          <a:bodyPr wrap="square" rtlCol="0" anchor="ctr"/>
          <a:lstStyle/>
          <a:p>
            <a:pPr indent="0" marL="0">
              <a:buNone/>
            </a:pPr>
            <a:r>
              <a:rPr lang="en-US" sz="1600" b="1" dirty="0">
                <a:solidFill>
                  <a:srgbClr val="F8FAFC"/>
                </a:solidFill>
                <a:latin typeface="Arial" pitchFamily="34" charset="0"/>
                <a:ea typeface="Arial" pitchFamily="34" charset="-122"/>
                <a:cs typeface="Arial" pitchFamily="34" charset="-120"/>
              </a:rPr>
              <a:t>मूक-बधिर जनसंख्या</a:t>
            </a:r>
            <a:endParaRPr lang="en-US" sz="1600" dirty="0"/>
          </a:p>
        </p:txBody>
      </p:sp>
      <p:sp>
        <p:nvSpPr>
          <p:cNvPr id="10" name="Text 8"/>
          <p:cNvSpPr/>
          <p:nvPr/>
        </p:nvSpPr>
        <p:spPr>
          <a:xfrm>
            <a:off x="1005840" y="3566160"/>
            <a:ext cx="2834640" cy="2011680"/>
          </a:xfrm>
          <a:prstGeom prst="rect">
            <a:avLst/>
          </a:prstGeom>
          <a:noFill/>
          <a:ln/>
        </p:spPr>
        <p:txBody>
          <a:bodyPr wrap="square" rtlCol="0" anchor="ctr"/>
          <a:lstStyle/>
          <a:p>
            <a:pPr indent="0" marL="0">
              <a:lnSpc>
                <a:spcPts val="1800"/>
              </a:lnSpc>
              <a:buNone/>
            </a:pPr>
            <a:r>
              <a:rPr lang="en-US" sz="1300" dirty="0">
                <a:solidFill>
                  <a:srgbClr val="94A3B8"/>
                </a:solidFill>
                <a:latin typeface="Arial" pitchFamily="34" charset="0"/>
                <a:ea typeface="Arial" pitchFamily="34" charset="-122"/>
                <a:cs typeface="Arial" pitchFamily="34" charset="-120"/>
              </a:rPr>
              <a:t>भारत में 1.8 करोड़ से अधिक लोग सांकेतिक भाषा (ISL) पर निर्भर हैं, लेकिन आम समाज में 99.9% लोग सांकेतिक भाषा नहीं समझते।</a:t>
            </a:r>
            <a:endParaRPr lang="en-US" sz="1300" dirty="0"/>
          </a:p>
        </p:txBody>
      </p:sp>
      <p:sp>
        <p:nvSpPr>
          <p:cNvPr id="11" name="Shape 9"/>
          <p:cNvSpPr/>
          <p:nvPr/>
        </p:nvSpPr>
        <p:spPr>
          <a:xfrm>
            <a:off x="4389120" y="1920240"/>
            <a:ext cx="3383280" cy="4114800"/>
          </a:xfrm>
          <a:prstGeom prst="roundRect">
            <a:avLst>
              <a:gd name="adj" fmla="val 4054"/>
            </a:avLst>
          </a:prstGeom>
          <a:solidFill>
            <a:srgbClr val="1C2541"/>
          </a:solidFill>
          <a:ln w="25400">
            <a:solidFill>
              <a:srgbClr val="F59E0B"/>
            </a:solidFill>
            <a:prstDash val="solid"/>
          </a:ln>
        </p:spPr>
      </p:sp>
      <p:sp>
        <p:nvSpPr>
          <p:cNvPr id="12" name="Text 10"/>
          <p:cNvSpPr/>
          <p:nvPr/>
        </p:nvSpPr>
        <p:spPr>
          <a:xfrm>
            <a:off x="4663440" y="2194560"/>
            <a:ext cx="2834640" cy="731520"/>
          </a:xfrm>
          <a:prstGeom prst="rect">
            <a:avLst/>
          </a:prstGeom>
          <a:noFill/>
          <a:ln/>
        </p:spPr>
        <p:txBody>
          <a:bodyPr wrap="square" rtlCol="0" anchor="ctr"/>
          <a:lstStyle/>
          <a:p>
            <a:pPr indent="0" marL="0">
              <a:buNone/>
            </a:pPr>
            <a:r>
              <a:rPr lang="en-US" sz="3200" b="1" dirty="0">
                <a:solidFill>
                  <a:srgbClr val="F59E0B"/>
                </a:solidFill>
                <a:latin typeface="Arial" pitchFamily="34" charset="0"/>
                <a:ea typeface="Arial" pitchFamily="34" charset="-122"/>
                <a:cs typeface="Arial" pitchFamily="34" charset="-120"/>
              </a:rPr>
              <a:t>1 : 20,000</a:t>
            </a:r>
            <a:endParaRPr lang="en-US" sz="3200" dirty="0"/>
          </a:p>
        </p:txBody>
      </p:sp>
      <p:sp>
        <p:nvSpPr>
          <p:cNvPr id="13" name="Text 11"/>
          <p:cNvSpPr/>
          <p:nvPr/>
        </p:nvSpPr>
        <p:spPr>
          <a:xfrm>
            <a:off x="4663440" y="3017520"/>
            <a:ext cx="2834640" cy="457200"/>
          </a:xfrm>
          <a:prstGeom prst="rect">
            <a:avLst/>
          </a:prstGeom>
          <a:noFill/>
          <a:ln/>
        </p:spPr>
        <p:txBody>
          <a:bodyPr wrap="square" rtlCol="0" anchor="ctr"/>
          <a:lstStyle/>
          <a:p>
            <a:pPr indent="0" marL="0">
              <a:buNone/>
            </a:pPr>
            <a:r>
              <a:rPr lang="en-US" sz="1600" b="1" dirty="0">
                <a:solidFill>
                  <a:srgbClr val="F8FAFC"/>
                </a:solidFill>
                <a:latin typeface="Arial" pitchFamily="34" charset="0"/>
                <a:ea typeface="Arial" pitchFamily="34" charset="-122"/>
                <a:cs typeface="Arial" pitchFamily="34" charset="-120"/>
              </a:rPr>
              <a:t>अनुवादकों का अकाल</a:t>
            </a:r>
            <a:endParaRPr lang="en-US" sz="1600" dirty="0"/>
          </a:p>
        </p:txBody>
      </p:sp>
      <p:sp>
        <p:nvSpPr>
          <p:cNvPr id="14" name="Text 12"/>
          <p:cNvSpPr/>
          <p:nvPr/>
        </p:nvSpPr>
        <p:spPr>
          <a:xfrm>
            <a:off x="4663440" y="3566160"/>
            <a:ext cx="2834640" cy="2011680"/>
          </a:xfrm>
          <a:prstGeom prst="rect">
            <a:avLst/>
          </a:prstGeom>
          <a:noFill/>
          <a:ln/>
        </p:spPr>
        <p:txBody>
          <a:bodyPr wrap="square" rtlCol="0" anchor="ctr"/>
          <a:lstStyle/>
          <a:p>
            <a:pPr indent="0" marL="0">
              <a:lnSpc>
                <a:spcPts val="1800"/>
              </a:lnSpc>
              <a:buNone/>
            </a:pPr>
            <a:r>
              <a:rPr lang="en-US" sz="1300" dirty="0">
                <a:solidFill>
                  <a:srgbClr val="94A3B8"/>
                </a:solidFill>
                <a:latin typeface="Arial" pitchFamily="34" charset="0"/>
                <a:ea typeface="Arial" pitchFamily="34" charset="-122"/>
                <a:cs typeface="Arial" pitchFamily="34" charset="-120"/>
              </a:rPr>
              <a:t>पूरे देश में केवल कुछ सौ प्रमाणित साइन इंटरप्रेटर हैं। यानी 20,000 मूक-बधिरों पर सिर्फ 1 अनुवादक उपलब्ध है।</a:t>
            </a:r>
            <a:endParaRPr lang="en-US" sz="1300" dirty="0"/>
          </a:p>
        </p:txBody>
      </p:sp>
      <p:sp>
        <p:nvSpPr>
          <p:cNvPr id="15" name="Shape 13"/>
          <p:cNvSpPr/>
          <p:nvPr/>
        </p:nvSpPr>
        <p:spPr>
          <a:xfrm>
            <a:off x="8046720" y="1920240"/>
            <a:ext cx="3383280" cy="4114800"/>
          </a:xfrm>
          <a:prstGeom prst="roundRect">
            <a:avLst>
              <a:gd name="adj" fmla="val 4054"/>
            </a:avLst>
          </a:prstGeom>
          <a:solidFill>
            <a:srgbClr val="1C2541"/>
          </a:solidFill>
          <a:ln w="25400">
            <a:solidFill>
              <a:srgbClr val="A855F7"/>
            </a:solidFill>
            <a:prstDash val="solid"/>
          </a:ln>
        </p:spPr>
      </p:sp>
      <p:sp>
        <p:nvSpPr>
          <p:cNvPr id="16" name="Text 14"/>
          <p:cNvSpPr/>
          <p:nvPr/>
        </p:nvSpPr>
        <p:spPr>
          <a:xfrm>
            <a:off x="8321040" y="2194560"/>
            <a:ext cx="2834640" cy="731520"/>
          </a:xfrm>
          <a:prstGeom prst="rect">
            <a:avLst/>
          </a:prstGeom>
          <a:noFill/>
          <a:ln/>
        </p:spPr>
        <p:txBody>
          <a:bodyPr wrap="square" rtlCol="0" anchor="ctr"/>
          <a:lstStyle/>
          <a:p>
            <a:pPr indent="0" marL="0">
              <a:buNone/>
            </a:pPr>
            <a:r>
              <a:rPr lang="en-US" sz="3200" b="1" dirty="0">
                <a:solidFill>
                  <a:srgbClr val="A855F7"/>
                </a:solidFill>
                <a:latin typeface="Arial" pitchFamily="34" charset="0"/>
                <a:ea typeface="Arial" pitchFamily="34" charset="-122"/>
                <a:cs typeface="Arial" pitchFamily="34" charset="-120"/>
              </a:rPr>
              <a:t>&lt; 5%</a:t>
            </a:r>
            <a:endParaRPr lang="en-US" sz="3200" dirty="0"/>
          </a:p>
        </p:txBody>
      </p:sp>
      <p:sp>
        <p:nvSpPr>
          <p:cNvPr id="17" name="Text 15"/>
          <p:cNvSpPr/>
          <p:nvPr/>
        </p:nvSpPr>
        <p:spPr>
          <a:xfrm>
            <a:off x="8321040" y="3017520"/>
            <a:ext cx="2834640" cy="457200"/>
          </a:xfrm>
          <a:prstGeom prst="rect">
            <a:avLst/>
          </a:prstGeom>
          <a:noFill/>
          <a:ln/>
        </p:spPr>
        <p:txBody>
          <a:bodyPr wrap="square" rtlCol="0" anchor="ctr"/>
          <a:lstStyle/>
          <a:p>
            <a:pPr indent="0" marL="0">
              <a:buNone/>
            </a:pPr>
            <a:r>
              <a:rPr lang="en-US" sz="1600" b="1" dirty="0">
                <a:solidFill>
                  <a:srgbClr val="F8FAFC"/>
                </a:solidFill>
                <a:latin typeface="Arial" pitchFamily="34" charset="0"/>
                <a:ea typeface="Arial" pitchFamily="34" charset="-122"/>
                <a:cs typeface="Arial" pitchFamily="34" charset="-120"/>
              </a:rPr>
              <a:t>अंग्रेजी साक्षरता</a:t>
            </a:r>
            <a:endParaRPr lang="en-US" sz="1600" dirty="0"/>
          </a:p>
        </p:txBody>
      </p:sp>
      <p:sp>
        <p:nvSpPr>
          <p:cNvPr id="18" name="Text 16"/>
          <p:cNvSpPr/>
          <p:nvPr/>
        </p:nvSpPr>
        <p:spPr>
          <a:xfrm>
            <a:off x="8321040" y="3566160"/>
            <a:ext cx="2834640" cy="2011680"/>
          </a:xfrm>
          <a:prstGeom prst="rect">
            <a:avLst/>
          </a:prstGeom>
          <a:noFill/>
          <a:ln/>
        </p:spPr>
        <p:txBody>
          <a:bodyPr wrap="square" rtlCol="0" anchor="ctr"/>
          <a:lstStyle/>
          <a:p>
            <a:pPr indent="0" marL="0">
              <a:lnSpc>
                <a:spcPts val="1800"/>
              </a:lnSpc>
              <a:buNone/>
            </a:pPr>
            <a:r>
              <a:rPr lang="en-US" sz="1300" dirty="0">
                <a:solidFill>
                  <a:srgbClr val="94A3B8"/>
                </a:solidFill>
                <a:latin typeface="Arial" pitchFamily="34" charset="0"/>
                <a:ea typeface="Arial" pitchFamily="34" charset="-122"/>
                <a:cs typeface="Arial" pitchFamily="34" charset="-120"/>
              </a:rPr>
              <a:t>मौजूदा प्रोजेक्ट्स सिर्फ विदेशी ASL और अंग्रेजी पर केंद्रित हैं, जबकि भारतीय मूक-बधिर समुदाय मुख्य रूप से हिंदी में संवाद करता है।</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0B981"/>
          </a:solidFill>
          <a:ln/>
        </p:spPr>
      </p:sp>
      <p:sp>
        <p:nvSpPr>
          <p:cNvPr id="3" name="Text 1"/>
          <p:cNvSpPr/>
          <p:nvPr/>
        </p:nvSpPr>
        <p:spPr>
          <a:xfrm>
            <a:off x="731520" y="411480"/>
            <a:ext cx="5486400" cy="32004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MARKET DISRUPTION</a:t>
            </a:r>
            <a:endParaRPr lang="en-US" sz="1000" dirty="0"/>
          </a:p>
        </p:txBody>
      </p:sp>
      <p:sp>
        <p:nvSpPr>
          <p:cNvPr id="4" name="Text 2"/>
          <p:cNvSpPr/>
          <p:nvPr/>
        </p:nvSpPr>
        <p:spPr>
          <a:xfrm>
            <a:off x="731520" y="731520"/>
            <a:ext cx="10515600" cy="594360"/>
          </a:xfrm>
          <a:prstGeom prst="rect">
            <a:avLst/>
          </a:prstGeom>
          <a:noFill/>
          <a:ln/>
        </p:spPr>
        <p:txBody>
          <a:bodyPr wrap="square" rtlCol="0" anchor="ctr"/>
          <a:lstStyle/>
          <a:p>
            <a:pPr indent="0" marL="0">
              <a:buNone/>
            </a:pPr>
            <a:r>
              <a:rPr lang="en-US" sz="2600" b="1" dirty="0">
                <a:solidFill>
                  <a:srgbClr val="F8FAFC"/>
                </a:solidFill>
                <a:latin typeface="Arial" pitchFamily="34" charset="0"/>
                <a:ea typeface="Arial" pitchFamily="34" charset="-122"/>
                <a:cs typeface="Arial" pitchFamily="34" charset="-120"/>
              </a:rPr>
              <a:t>Why Existing Solutions Fail vs BoliSign</a:t>
            </a:r>
            <a:endParaRPr lang="en-US" sz="2600" dirty="0"/>
          </a:p>
        </p:txBody>
      </p:sp>
      <p:sp>
        <p:nvSpPr>
          <p:cNvPr id="5" name="Text 3"/>
          <p:cNvSpPr/>
          <p:nvPr/>
        </p:nvSpPr>
        <p:spPr>
          <a:xfrm>
            <a:off x="731520" y="1325880"/>
            <a:ext cx="10515600" cy="36576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Traditional approaches are either unaffordable or completely impractical</a:t>
            </a:r>
            <a:endParaRPr lang="en-US" sz="1300" dirty="0"/>
          </a:p>
        </p:txBody>
      </p:sp>
      <p:sp>
        <p:nvSpPr>
          <p:cNvPr id="6" name="Text 4"/>
          <p:cNvSpPr/>
          <p:nvPr/>
        </p:nvSpPr>
        <p:spPr>
          <a:xfrm>
            <a:off x="731520" y="6492240"/>
            <a:ext cx="82296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बोली-साइन (BoliSign) • Real-Time ISL to Hindi Speech • Hackathon 2026</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731520" y="1828800"/>
          <a:ext cx="10725912" cy="4206240"/>
        </p:xfrm>
        <a:graphic>
          <a:graphicData uri="http://schemas.openxmlformats.org/drawingml/2006/table">
            <a:tbl>
              <a:tblPr/>
              <a:tblGrid>
                <a:gridCol w="2560320"/>
                <a:gridCol w="2560320"/>
                <a:gridCol w="2560320"/>
                <a:gridCol w="3044952"/>
              </a:tblGrid>
              <a:tr h="701040">
                <a:tc>
                  <a:txBody>
                    <a:bodyPr/>
                    <a:lstStyle/>
                    <a:p>
                      <a:pPr algn="l" indent="0" marL="0">
                        <a:buNone/>
                      </a:pPr>
                      <a:r>
                        <a:rPr lang="en-US" sz="1200" b="1" dirty="0">
                          <a:solidFill>
                            <a:srgbClr val="F8FAFC"/>
                          </a:solidFill>
                        </a:rPr>
                        <a:t>मापदंड (Parameters)</a:t>
                      </a:r>
                      <a:endParaRPr lang="en-US" sz="120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1200" b="1" dirty="0">
                          <a:solidFill>
                            <a:srgbClr val="EF4444"/>
                          </a:solidFill>
                        </a:rPr>
                        <a:t>Sensor Gloves (हार्डवेयर)</a:t>
                      </a:r>
                      <a:endParaRPr lang="en-US" sz="120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1200" b="1" dirty="0">
                          <a:solidFill>
                            <a:srgbClr val="F59E0B"/>
                          </a:solidFill>
                        </a:rPr>
                        <a:t>Generic Python / ASL Apps</a:t>
                      </a:r>
                      <a:endParaRPr lang="en-US" sz="120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algn="l" indent="0" marL="0">
                        <a:buNone/>
                      </a:pPr>
                      <a:r>
                        <a:rPr lang="en-US" sz="1200" b="1" dirty="0">
                          <a:solidFill>
                            <a:srgbClr val="10B981"/>
                          </a:solidFill>
                        </a:rPr>
                        <a:t>✨ BoliSign (हमारा समाधान)</a:t>
                      </a:r>
                      <a:endParaRPr lang="en-US" sz="120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64E63"/>
                    </a:solidFill>
                  </a:tcPr>
                </a:tc>
              </a:tr>
              <a:tr h="701040">
                <a:tc>
                  <a:txBody>
                    <a:bodyPr/>
                    <a:lstStyle/>
                    <a:p>
                      <a:pPr algn="l" indent="0" marL="0">
                        <a:buNone/>
                      </a:pPr>
                      <a:r>
                        <a:rPr lang="en-US" sz="1200" b="1" dirty="0">
                          <a:solidFill>
                            <a:srgbClr val="F8FAFC"/>
                          </a:solidFill>
                        </a:rPr>
                        <a:t>उपकरण लागत (Cost)</a:t>
                      </a:r>
                      <a:endParaRPr lang="en-US" sz="120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C2541"/>
                    </a:solidFill>
                  </a:tcPr>
                </a:tc>
                <a:tc>
                  <a:txBody>
                    <a:bodyPr/>
                    <a:lstStyle/>
                    <a:p>
                      <a:pPr algn="l" indent="0" marL="0">
                        <a:buNone/>
                      </a:pPr>
                      <a:r>
                        <a:rPr lang="en-US" sz="1200" dirty="0">
                          <a:solidFill>
                            <a:srgbClr val="EF4444"/>
                          </a:solidFill>
                        </a:rPr>
                        <a:t>₹15,000 - ₹35,000 (महंगा)</a:t>
                      </a:r>
                      <a:endParaRPr lang="en-US" sz="120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C2541"/>
                    </a:solidFill>
                  </a:tcPr>
                </a:tc>
                <a:tc>
                  <a:txBody>
                    <a:bodyPr/>
                    <a:lstStyle/>
                    <a:p>
                      <a:pPr algn="l" indent="0" marL="0">
                        <a:buNone/>
                      </a:pPr>
                      <a:r>
                        <a:rPr lang="en-US" sz="1200" dirty="0">
                          <a:solidFill>
                            <a:srgbClr val="F59E0B"/>
                          </a:solidFill>
                        </a:rPr>
                        <a:t>GPU सर्वर की भारी लागत</a:t>
                      </a:r>
                      <a:endParaRPr lang="en-US" sz="120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C2541"/>
                    </a:solidFill>
                  </a:tcPr>
                </a:tc>
                <a:tc>
                  <a:txBody>
                    <a:bodyPr/>
                    <a:lstStyle/>
                    <a:p>
                      <a:pPr algn="l" indent="0" marL="0">
                        <a:buNone/>
                      </a:pPr>
                      <a:r>
                        <a:rPr lang="en-US" sz="1200" b="1" dirty="0">
                          <a:solidFill>
                            <a:srgbClr val="10B981"/>
                          </a:solidFill>
                        </a:rPr>
                        <a:t>₹0 (शून्य लागत - सामान्य फोन कैमरा)</a:t>
                      </a:r>
                      <a:endParaRPr lang="en-US" sz="120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C2541"/>
                    </a:solidFill>
                  </a:tcPr>
                </a:tc>
              </a:tr>
              <a:tr h="701040">
                <a:tc>
                  <a:txBody>
                    <a:bodyPr/>
                    <a:lstStyle/>
                    <a:p>
                      <a:pPr algn="l" indent="0" marL="0">
                        <a:buNone/>
                      </a:pPr>
                      <a:r>
                        <a:rPr lang="en-US" sz="1200" b="1" dirty="0">
                          <a:solidFill>
                            <a:srgbClr val="F8FAFC"/>
                          </a:solidFill>
                        </a:rPr>
                        <a:t>हार्डवेयर आवश्यकता</a:t>
                      </a:r>
                      <a:endParaRPr lang="en-US" sz="120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C2541"/>
                    </a:solidFill>
                  </a:tcPr>
                </a:tc>
                <a:tc>
                  <a:txBody>
                    <a:bodyPr/>
                    <a:lstStyle/>
                    <a:p>
                      <a:pPr algn="l" indent="0" marL="0">
                        <a:buNone/>
                      </a:pPr>
                      <a:r>
                        <a:rPr lang="en-US" sz="1200" dirty="0">
                          <a:solidFill>
                            <a:srgbClr val="EF4444"/>
                          </a:solidFill>
                        </a:rPr>
                        <a:t>फ्लेक्स सेंसर, बैटरी, तार</a:t>
                      </a:r>
                      <a:endParaRPr lang="en-US" sz="120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C2541"/>
                    </a:solidFill>
                  </a:tcPr>
                </a:tc>
                <a:tc>
                  <a:txBody>
                    <a:bodyPr/>
                    <a:lstStyle/>
                    <a:p>
                      <a:pPr algn="l" indent="0" marL="0">
                        <a:buNone/>
                      </a:pPr>
                      <a:r>
                        <a:rPr lang="en-US" sz="1200" dirty="0">
                          <a:solidFill>
                            <a:srgbClr val="F59E0B"/>
                          </a:solidFill>
                        </a:rPr>
                        <a:t>Heavy Python / CUDA</a:t>
                      </a:r>
                      <a:endParaRPr lang="en-US" sz="120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C2541"/>
                    </a:solidFill>
                  </a:tcPr>
                </a:tc>
                <a:tc>
                  <a:txBody>
                    <a:bodyPr/>
                    <a:lstStyle/>
                    <a:p>
                      <a:pPr algn="l" indent="0" marL="0">
                        <a:buNone/>
                      </a:pPr>
                      <a:r>
                        <a:rPr lang="en-US" sz="1200" b="1" dirty="0">
                          <a:solidFill>
                            <a:srgbClr val="10B981"/>
                          </a:solidFill>
                        </a:rPr>
                        <a:t>100% Client-Side Web (No App)</a:t>
                      </a:r>
                      <a:endParaRPr lang="en-US" sz="120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C2541"/>
                    </a:solidFill>
                  </a:tcPr>
                </a:tc>
              </a:tr>
              <a:tr h="701040">
                <a:tc>
                  <a:txBody>
                    <a:bodyPr/>
                    <a:lstStyle/>
                    <a:p>
                      <a:pPr algn="l" indent="0" marL="0">
                        <a:buNone/>
                      </a:pPr>
                      <a:r>
                        <a:rPr lang="en-US" sz="1200" b="1" dirty="0">
                          <a:solidFill>
                            <a:srgbClr val="F8FAFC"/>
                          </a:solidFill>
                        </a:rPr>
                        <a:t>स्थान संदर्भ (Body Anchors)</a:t>
                      </a:r>
                      <a:endParaRPr lang="en-US" sz="120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C2541"/>
                    </a:solidFill>
                  </a:tcPr>
                </a:tc>
                <a:tc>
                  <a:txBody>
                    <a:bodyPr/>
                    <a:lstStyle/>
                    <a:p>
                      <a:pPr algn="l" indent="0" marL="0">
                        <a:buNone/>
                      </a:pPr>
                      <a:r>
                        <a:rPr lang="en-US" sz="1200" dirty="0">
                          <a:solidFill>
                            <a:srgbClr val="EF4444"/>
                          </a:solidFill>
                        </a:rPr>
                        <a:t>❌ सिर्फ उंगलियां (स्थान शून्य)</a:t>
                      </a:r>
                      <a:endParaRPr lang="en-US" sz="120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C2541"/>
                    </a:solidFill>
                  </a:tcPr>
                </a:tc>
                <a:tc>
                  <a:txBody>
                    <a:bodyPr/>
                    <a:lstStyle/>
                    <a:p>
                      <a:pPr algn="l" indent="0" marL="0">
                        <a:buNone/>
                      </a:pPr>
                      <a:r>
                        <a:rPr lang="en-US" sz="1200" dirty="0">
                          <a:solidFill>
                            <a:srgbClr val="EF4444"/>
                          </a:solidFill>
                        </a:rPr>
                        <a:t>❌ शरीर संदर्भ नहीं पहचानते</a:t>
                      </a:r>
                      <a:endParaRPr lang="en-US" sz="120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C2541"/>
                    </a:solidFill>
                  </a:tcPr>
                </a:tc>
                <a:tc>
                  <a:txBody>
                    <a:bodyPr/>
                    <a:lstStyle/>
                    <a:p>
                      <a:pPr algn="l" indent="0" marL="0">
                        <a:buNone/>
                      </a:pPr>
                      <a:r>
                        <a:rPr lang="en-US" sz="1200" b="1" dirty="0">
                          <a:solidFill>
                            <a:srgbClr val="10B981"/>
                          </a:solidFill>
                        </a:rPr>
                        <a:t>✅ माथा, ठोड़ी, गाल, सीना (Real ISL)</a:t>
                      </a:r>
                      <a:endParaRPr lang="en-US" sz="120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C2541"/>
                    </a:solidFill>
                  </a:tcPr>
                </a:tc>
              </a:tr>
              <a:tr h="701040">
                <a:tc>
                  <a:txBody>
                    <a:bodyPr/>
                    <a:lstStyle/>
                    <a:p>
                      <a:pPr algn="l" indent="0" marL="0">
                        <a:buNone/>
                      </a:pPr>
                      <a:r>
                        <a:rPr lang="en-US" sz="1200" b="1" dirty="0">
                          <a:solidFill>
                            <a:srgbClr val="F8FAFC"/>
                          </a:solidFill>
                        </a:rPr>
                        <a:t>नया साइन सिखाना (Training)</a:t>
                      </a:r>
                      <a:endParaRPr lang="en-US" sz="120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C2541"/>
                    </a:solidFill>
                  </a:tcPr>
                </a:tc>
                <a:tc>
                  <a:txBody>
                    <a:bodyPr/>
                    <a:lstStyle/>
                    <a:p>
                      <a:pPr algn="l" indent="0" marL="0">
                        <a:buNone/>
                      </a:pPr>
                      <a:r>
                        <a:rPr lang="en-US" sz="1200" dirty="0">
                          <a:solidFill>
                            <a:srgbClr val="EF4444"/>
                          </a:solidFill>
                        </a:rPr>
                        <a:t>❌ फर्मवेयर री-प्रोग्रामिंग</a:t>
                      </a:r>
                      <a:endParaRPr lang="en-US" sz="120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C2541"/>
                    </a:solidFill>
                  </a:tcPr>
                </a:tc>
                <a:tc>
                  <a:txBody>
                    <a:bodyPr/>
                    <a:lstStyle/>
                    <a:p>
                      <a:pPr algn="l" indent="0" marL="0">
                        <a:buNone/>
                      </a:pPr>
                      <a:r>
                        <a:rPr lang="en-US" sz="1200" dirty="0">
                          <a:solidFill>
                            <a:srgbClr val="EF4444"/>
                          </a:solidFill>
                        </a:rPr>
                        <a:t>❌ जटिल मॉडल री-ट्रेनिंग</a:t>
                      </a:r>
                      <a:endParaRPr lang="en-US" sz="120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C2541"/>
                    </a:solidFill>
                  </a:tcPr>
                </a:tc>
                <a:tc>
                  <a:txBody>
                    <a:bodyPr/>
                    <a:lstStyle/>
                    <a:p>
                      <a:pPr algn="l" indent="0" marL="0">
                        <a:buNone/>
                      </a:pPr>
                      <a:r>
                        <a:rPr lang="en-US" sz="1200" b="1" dirty="0">
                          <a:solidFill>
                            <a:srgbClr val="10B981"/>
                          </a:solidFill>
                        </a:rPr>
                        <a:t>✅ 3-Step हैंड्स-फ्री स्टूडियो (15s)</a:t>
                      </a:r>
                      <a:endParaRPr lang="en-US" sz="120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C2541"/>
                    </a:solidFill>
                  </a:tcPr>
                </a:tc>
              </a:tr>
              <a:tr h="701040">
                <a:tc>
                  <a:txBody>
                    <a:bodyPr/>
                    <a:lstStyle/>
                    <a:p>
                      <a:pPr algn="l" indent="0" marL="0">
                        <a:buNone/>
                      </a:pPr>
                      <a:r>
                        <a:rPr lang="en-US" sz="1200" b="1" dirty="0">
                          <a:solidFill>
                            <a:srgbClr val="F8FAFC"/>
                          </a:solidFill>
                        </a:rPr>
                        <a:t>भाषा व आउटपुट</a:t>
                      </a:r>
                      <a:endParaRPr lang="en-US" sz="120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C2541"/>
                    </a:solidFill>
                  </a:tcPr>
                </a:tc>
                <a:tc>
                  <a:txBody>
                    <a:bodyPr/>
                    <a:lstStyle/>
                    <a:p>
                      <a:pPr algn="l" indent="0" marL="0">
                        <a:buNone/>
                      </a:pPr>
                      <a:r>
                        <a:rPr lang="en-US" sz="1200" dirty="0">
                          <a:solidFill>
                            <a:srgbClr val="94A3B8"/>
                          </a:solidFill>
                        </a:rPr>
                        <a:t>एकल कच्चा शब्द (Raw Text)</a:t>
                      </a:r>
                      <a:endParaRPr lang="en-US" sz="120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C2541"/>
                    </a:solidFill>
                  </a:tcPr>
                </a:tc>
                <a:tc>
                  <a:txBody>
                    <a:bodyPr/>
                    <a:lstStyle/>
                    <a:p>
                      <a:pPr algn="l" indent="0" marL="0">
                        <a:buNone/>
                      </a:pPr>
                      <a:r>
                        <a:rPr lang="en-US" sz="1200" dirty="0">
                          <a:solidFill>
                            <a:srgbClr val="94A3B8"/>
                          </a:solidFill>
                        </a:rPr>
                        <a:t>अंग्रेजी अक्षर (Letters)</a:t>
                      </a:r>
                      <a:endParaRPr lang="en-US" sz="120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C2541"/>
                    </a:solidFill>
                  </a:tcPr>
                </a:tc>
                <a:tc>
                  <a:txBody>
                    <a:bodyPr/>
                    <a:lstStyle/>
                    <a:p>
                      <a:pPr algn="l" indent="0" marL="0">
                        <a:buNone/>
                      </a:pPr>
                      <a:r>
                        <a:rPr lang="en-US" sz="1200" b="1" dirty="0">
                          <a:solidFill>
                            <a:srgbClr val="10B981"/>
                          </a:solidFill>
                        </a:rPr>
                        <a:t>✅ धाराप्रवाह प्राकृतिक हिंदी वाक्य</a:t>
                      </a:r>
                      <a:endParaRPr lang="en-US" sz="1200" dirty="0"/>
                    </a:p>
                  </a:txBody>
                  <a:tcPr marL="91440" marR="91440" marT="45720" marB="45720"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C2541"/>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0B981"/>
          </a:solidFill>
          <a:ln/>
        </p:spPr>
      </p:sp>
      <p:sp>
        <p:nvSpPr>
          <p:cNvPr id="3" name="Text 1"/>
          <p:cNvSpPr/>
          <p:nvPr/>
        </p:nvSpPr>
        <p:spPr>
          <a:xfrm>
            <a:off x="731520" y="411480"/>
            <a:ext cx="5486400" cy="32004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TECHNICAL ARCHITECTURE</a:t>
            </a:r>
            <a:endParaRPr lang="en-US" sz="1000" dirty="0"/>
          </a:p>
        </p:txBody>
      </p:sp>
      <p:sp>
        <p:nvSpPr>
          <p:cNvPr id="4" name="Text 2"/>
          <p:cNvSpPr/>
          <p:nvPr/>
        </p:nvSpPr>
        <p:spPr>
          <a:xfrm>
            <a:off x="731520" y="731520"/>
            <a:ext cx="10515600" cy="594360"/>
          </a:xfrm>
          <a:prstGeom prst="rect">
            <a:avLst/>
          </a:prstGeom>
          <a:noFill/>
          <a:ln/>
        </p:spPr>
        <p:txBody>
          <a:bodyPr wrap="square" rtlCol="0" anchor="ctr"/>
          <a:lstStyle/>
          <a:p>
            <a:pPr indent="0" marL="0">
              <a:buNone/>
            </a:pPr>
            <a:r>
              <a:rPr lang="en-US" sz="2600" b="1" dirty="0">
                <a:solidFill>
                  <a:srgbClr val="F8FAFC"/>
                </a:solidFill>
                <a:latin typeface="Arial" pitchFamily="34" charset="0"/>
                <a:ea typeface="Arial" pitchFamily="34" charset="-122"/>
                <a:cs typeface="Arial" pitchFamily="34" charset="-120"/>
              </a:rPr>
              <a:t>The Triple-Engine Real-Time Vision Framework</a:t>
            </a:r>
            <a:endParaRPr lang="en-US" sz="2600" dirty="0"/>
          </a:p>
        </p:txBody>
      </p:sp>
      <p:sp>
        <p:nvSpPr>
          <p:cNvPr id="5" name="Text 3"/>
          <p:cNvSpPr/>
          <p:nvPr/>
        </p:nvSpPr>
        <p:spPr>
          <a:xfrm>
            <a:off x="731520" y="1325880"/>
            <a:ext cx="10515600" cy="36576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Engineered for sub-50ms latency, high precision &amp; zero server streaming cost</a:t>
            </a:r>
            <a:endParaRPr lang="en-US" sz="1300" dirty="0"/>
          </a:p>
        </p:txBody>
      </p:sp>
      <p:sp>
        <p:nvSpPr>
          <p:cNvPr id="6" name="Text 4"/>
          <p:cNvSpPr/>
          <p:nvPr/>
        </p:nvSpPr>
        <p:spPr>
          <a:xfrm>
            <a:off x="731520" y="6492240"/>
            <a:ext cx="82296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बोली-साइन (BoliSign) • Real-Time ISL to Hindi Speech • Hackathon 2026</a:t>
            </a:r>
            <a:endParaRPr lang="en-US" sz="900" dirty="0"/>
          </a:p>
        </p:txBody>
      </p:sp>
      <p:sp>
        <p:nvSpPr>
          <p:cNvPr id="7" name="Shape 5"/>
          <p:cNvSpPr/>
          <p:nvPr/>
        </p:nvSpPr>
        <p:spPr>
          <a:xfrm>
            <a:off x="731520" y="1920240"/>
            <a:ext cx="3383280" cy="4206240"/>
          </a:xfrm>
          <a:prstGeom prst="roundRect">
            <a:avLst>
              <a:gd name="adj" fmla="val 4054"/>
            </a:avLst>
          </a:prstGeom>
          <a:solidFill>
            <a:srgbClr val="1C2541"/>
          </a:solidFill>
          <a:ln w="25400">
            <a:solidFill>
              <a:srgbClr val="38BDF8"/>
            </a:solidFill>
            <a:prstDash val="solid"/>
          </a:ln>
        </p:spPr>
      </p:sp>
      <p:sp>
        <p:nvSpPr>
          <p:cNvPr id="8" name="Text 6"/>
          <p:cNvSpPr/>
          <p:nvPr/>
        </p:nvSpPr>
        <p:spPr>
          <a:xfrm>
            <a:off x="1005840" y="2103120"/>
            <a:ext cx="2834640" cy="365760"/>
          </a:xfrm>
          <a:prstGeom prst="rect">
            <a:avLst/>
          </a:prstGeom>
          <a:noFill/>
          <a:ln/>
        </p:spPr>
        <p:txBody>
          <a:bodyPr wrap="square" rtlCol="0" anchor="ctr"/>
          <a:lstStyle/>
          <a:p>
            <a:pPr indent="0" marL="0">
              <a:buNone/>
            </a:pPr>
            <a:r>
              <a:rPr lang="en-US" sz="1100" b="1" dirty="0">
                <a:solidFill>
                  <a:srgbClr val="38BDF8"/>
                </a:solidFill>
                <a:latin typeface="Arial" pitchFamily="34" charset="0"/>
                <a:ea typeface="Arial" pitchFamily="34" charset="-122"/>
                <a:cs typeface="Arial" pitchFamily="34" charset="-120"/>
              </a:rPr>
              <a:t>📷  ENGINE 1</a:t>
            </a:r>
            <a:endParaRPr lang="en-US" sz="1100" dirty="0"/>
          </a:p>
        </p:txBody>
      </p:sp>
      <p:sp>
        <p:nvSpPr>
          <p:cNvPr id="9" name="Text 7"/>
          <p:cNvSpPr/>
          <p:nvPr/>
        </p:nvSpPr>
        <p:spPr>
          <a:xfrm>
            <a:off x="1005840" y="2468880"/>
            <a:ext cx="2834640" cy="548640"/>
          </a:xfrm>
          <a:prstGeom prst="rect">
            <a:avLst/>
          </a:prstGeom>
          <a:noFill/>
          <a:ln/>
        </p:spPr>
        <p:txBody>
          <a:bodyPr wrap="square" rtlCol="0" anchor="ctr"/>
          <a:lstStyle/>
          <a:p>
            <a:pPr indent="0" marL="0">
              <a:buNone/>
            </a:pPr>
            <a:r>
              <a:rPr lang="en-US" sz="1600" b="1" dirty="0">
                <a:solidFill>
                  <a:srgbClr val="F8FAFC"/>
                </a:solidFill>
                <a:latin typeface="Arial" pitchFamily="34" charset="0"/>
                <a:ea typeface="Arial" pitchFamily="34" charset="-122"/>
                <a:cs typeface="Arial" pitchFamily="34" charset="-120"/>
              </a:rPr>
              <a:t>Spatial &amp; Body Anchors</a:t>
            </a:r>
            <a:endParaRPr lang="en-US" sz="1600" dirty="0"/>
          </a:p>
        </p:txBody>
      </p:sp>
      <p:sp>
        <p:nvSpPr>
          <p:cNvPr id="10" name="Text 8"/>
          <p:cNvSpPr/>
          <p:nvPr/>
        </p:nvSpPr>
        <p:spPr>
          <a:xfrm>
            <a:off x="1005840" y="3108960"/>
            <a:ext cx="2834640" cy="640080"/>
          </a:xfrm>
          <a:prstGeom prst="rect">
            <a:avLst/>
          </a:prstGeom>
          <a:noFill/>
          <a:ln/>
        </p:spPr>
        <p:txBody>
          <a:bodyPr wrap="square" rtlCol="0" anchor="ctr"/>
          <a:lstStyle/>
          <a:p>
            <a:pPr indent="0" marL="0">
              <a:lnSpc>
                <a:spcPts val="1500"/>
              </a:lnSpc>
              <a:buNone/>
            </a:pPr>
            <a:r>
              <a:rPr lang="en-US" sz="1100" dirty="0">
                <a:solidFill>
                  <a:srgbClr val="94A3B8"/>
                </a:solidFill>
                <a:latin typeface="Arial" pitchFamily="34" charset="0"/>
                <a:ea typeface="Arial" pitchFamily="34" charset="-122"/>
                <a:cs typeface="Arial" pitchFamily="34" charset="-120"/>
              </a:rPr>
              <a:t>• 21 3D-Hand Landmarks (MediaPipe)</a:t>
            </a:r>
            <a:endParaRPr lang="en-US" sz="1100" dirty="0"/>
          </a:p>
        </p:txBody>
      </p:sp>
      <p:sp>
        <p:nvSpPr>
          <p:cNvPr id="11" name="Text 9"/>
          <p:cNvSpPr/>
          <p:nvPr/>
        </p:nvSpPr>
        <p:spPr>
          <a:xfrm>
            <a:off x="1005840" y="3794760"/>
            <a:ext cx="2834640" cy="640080"/>
          </a:xfrm>
          <a:prstGeom prst="rect">
            <a:avLst/>
          </a:prstGeom>
          <a:noFill/>
          <a:ln/>
        </p:spPr>
        <p:txBody>
          <a:bodyPr wrap="square" rtlCol="0" anchor="ctr"/>
          <a:lstStyle/>
          <a:p>
            <a:pPr indent="0" marL="0">
              <a:lnSpc>
                <a:spcPts val="1500"/>
              </a:lnSpc>
              <a:buNone/>
            </a:pPr>
            <a:r>
              <a:rPr lang="en-US" sz="1100" dirty="0">
                <a:solidFill>
                  <a:srgbClr val="94A3B8"/>
                </a:solidFill>
                <a:latin typeface="Arial" pitchFamily="34" charset="0"/>
                <a:ea typeface="Arial" pitchFamily="34" charset="-122"/>
                <a:cs typeface="Arial" pitchFamily="34" charset="-120"/>
              </a:rPr>
              <a:t>• चेहरे के सापेक्ष संदर्भ (Forehead, Chin, Cheek, Chest)</a:t>
            </a:r>
            <a:endParaRPr lang="en-US" sz="1100" dirty="0"/>
          </a:p>
        </p:txBody>
      </p:sp>
      <p:sp>
        <p:nvSpPr>
          <p:cNvPr id="12" name="Text 10"/>
          <p:cNvSpPr/>
          <p:nvPr/>
        </p:nvSpPr>
        <p:spPr>
          <a:xfrm>
            <a:off x="1005840" y="4480560"/>
            <a:ext cx="2834640" cy="640080"/>
          </a:xfrm>
          <a:prstGeom prst="rect">
            <a:avLst/>
          </a:prstGeom>
          <a:noFill/>
          <a:ln/>
        </p:spPr>
        <p:txBody>
          <a:bodyPr wrap="square" rtlCol="0" anchor="ctr"/>
          <a:lstStyle/>
          <a:p>
            <a:pPr indent="0" marL="0">
              <a:lnSpc>
                <a:spcPts val="1500"/>
              </a:lnSpc>
              <a:buNone/>
            </a:pPr>
            <a:r>
              <a:rPr lang="en-US" sz="1100" dirty="0">
                <a:solidFill>
                  <a:srgbClr val="94A3B8"/>
                </a:solidFill>
                <a:latin typeface="Arial" pitchFamily="34" charset="0"/>
                <a:ea typeface="Arial" pitchFamily="34" charset="-122"/>
                <a:cs typeface="Arial" pitchFamily="34" charset="-120"/>
              </a:rPr>
              <a:t>• कलाई से मध्यमा हड्डी (Palm Normalizer) से ऑटो-स्केलिंग</a:t>
            </a:r>
            <a:endParaRPr lang="en-US" sz="1100" dirty="0"/>
          </a:p>
        </p:txBody>
      </p:sp>
      <p:sp>
        <p:nvSpPr>
          <p:cNvPr id="13" name="Text 11"/>
          <p:cNvSpPr/>
          <p:nvPr/>
        </p:nvSpPr>
        <p:spPr>
          <a:xfrm>
            <a:off x="1005840" y="5166360"/>
            <a:ext cx="2834640" cy="640080"/>
          </a:xfrm>
          <a:prstGeom prst="rect">
            <a:avLst/>
          </a:prstGeom>
          <a:noFill/>
          <a:ln/>
        </p:spPr>
        <p:txBody>
          <a:bodyPr wrap="square" rtlCol="0" anchor="ctr"/>
          <a:lstStyle/>
          <a:p>
            <a:pPr indent="0" marL="0">
              <a:lnSpc>
                <a:spcPts val="1500"/>
              </a:lnSpc>
              <a:buNone/>
            </a:pPr>
            <a:r>
              <a:rPr lang="en-US" sz="1100" dirty="0">
                <a:solidFill>
                  <a:srgbClr val="94A3B8"/>
                </a:solidFill>
                <a:latin typeface="Arial" pitchFamily="34" charset="0"/>
                <a:ea typeface="Arial" pitchFamily="34" charset="-122"/>
                <a:cs typeface="Arial" pitchFamily="34" charset="-120"/>
              </a:rPr>
              <a:t>• कैमरे से 1 फीट या 5 फीट दूरी पर भी 100% सटीक</a:t>
            </a:r>
            <a:endParaRPr lang="en-US" sz="1100" dirty="0"/>
          </a:p>
        </p:txBody>
      </p:sp>
      <p:sp>
        <p:nvSpPr>
          <p:cNvPr id="14" name="Shape 12"/>
          <p:cNvSpPr/>
          <p:nvPr/>
        </p:nvSpPr>
        <p:spPr>
          <a:xfrm>
            <a:off x="4389120" y="1920240"/>
            <a:ext cx="3383280" cy="4206240"/>
          </a:xfrm>
          <a:prstGeom prst="roundRect">
            <a:avLst>
              <a:gd name="adj" fmla="val 4054"/>
            </a:avLst>
          </a:prstGeom>
          <a:solidFill>
            <a:srgbClr val="1C2541"/>
          </a:solidFill>
          <a:ln w="25400">
            <a:solidFill>
              <a:srgbClr val="10B981"/>
            </a:solidFill>
            <a:prstDash val="solid"/>
          </a:ln>
        </p:spPr>
      </p:sp>
      <p:sp>
        <p:nvSpPr>
          <p:cNvPr id="15" name="Text 13"/>
          <p:cNvSpPr/>
          <p:nvPr/>
        </p:nvSpPr>
        <p:spPr>
          <a:xfrm>
            <a:off x="4663440" y="2103120"/>
            <a:ext cx="2834640" cy="365760"/>
          </a:xfrm>
          <a:prstGeom prst="rect">
            <a:avLst/>
          </a:prstGeom>
          <a:noFill/>
          <a:ln/>
        </p:spPr>
        <p:txBody>
          <a:bodyPr wrap="square" rtlCol="0" anchor="ctr"/>
          <a:lstStyle/>
          <a:p>
            <a:pPr indent="0" marL="0">
              <a:buNone/>
            </a:pPr>
            <a:r>
              <a:rPr lang="en-US" sz="1100" b="1" dirty="0">
                <a:solidFill>
                  <a:srgbClr val="10B981"/>
                </a:solidFill>
                <a:latin typeface="Arial" pitchFamily="34" charset="0"/>
                <a:ea typeface="Arial" pitchFamily="34" charset="-122"/>
                <a:cs typeface="Arial" pitchFamily="34" charset="-120"/>
              </a:rPr>
              <a:t>⚡  ENGINE 2</a:t>
            </a:r>
            <a:endParaRPr lang="en-US" sz="1100" dirty="0"/>
          </a:p>
        </p:txBody>
      </p:sp>
      <p:sp>
        <p:nvSpPr>
          <p:cNvPr id="16" name="Text 14"/>
          <p:cNvSpPr/>
          <p:nvPr/>
        </p:nvSpPr>
        <p:spPr>
          <a:xfrm>
            <a:off x="4663440" y="2468880"/>
            <a:ext cx="2834640" cy="548640"/>
          </a:xfrm>
          <a:prstGeom prst="rect">
            <a:avLst/>
          </a:prstGeom>
          <a:noFill/>
          <a:ln/>
        </p:spPr>
        <p:txBody>
          <a:bodyPr wrap="square" rtlCol="0" anchor="ctr"/>
          <a:lstStyle/>
          <a:p>
            <a:pPr indent="0" marL="0">
              <a:buNone/>
            </a:pPr>
            <a:r>
              <a:rPr lang="en-US" sz="1600" b="1" dirty="0">
                <a:solidFill>
                  <a:srgbClr val="F8FAFC"/>
                </a:solidFill>
                <a:latin typeface="Arial" pitchFamily="34" charset="0"/>
                <a:ea typeface="Arial" pitchFamily="34" charset="-122"/>
                <a:cs typeface="Arial" pitchFamily="34" charset="-120"/>
              </a:rPr>
              <a:t>Dynamic Motion Vector</a:t>
            </a:r>
            <a:endParaRPr lang="en-US" sz="1600" dirty="0"/>
          </a:p>
        </p:txBody>
      </p:sp>
      <p:sp>
        <p:nvSpPr>
          <p:cNvPr id="17" name="Text 15"/>
          <p:cNvSpPr/>
          <p:nvPr/>
        </p:nvSpPr>
        <p:spPr>
          <a:xfrm>
            <a:off x="4663440" y="3108960"/>
            <a:ext cx="2834640" cy="640080"/>
          </a:xfrm>
          <a:prstGeom prst="rect">
            <a:avLst/>
          </a:prstGeom>
          <a:noFill/>
          <a:ln/>
        </p:spPr>
        <p:txBody>
          <a:bodyPr wrap="square" rtlCol="0" anchor="ctr"/>
          <a:lstStyle/>
          <a:p>
            <a:pPr indent="0" marL="0">
              <a:lnSpc>
                <a:spcPts val="1500"/>
              </a:lnSpc>
              <a:buNone/>
            </a:pPr>
            <a:r>
              <a:rPr lang="en-US" sz="1100" dirty="0">
                <a:solidFill>
                  <a:srgbClr val="94A3B8"/>
                </a:solidFill>
                <a:latin typeface="Arial" pitchFamily="34" charset="0"/>
                <a:ea typeface="Arial" pitchFamily="34" charset="-122"/>
                <a:cs typeface="Arial" pitchFamily="34" charset="-120"/>
              </a:rPr>
              <a:t>• 16-फ्रेम रोलिंग वेलोसिटी हिस्ट्री</a:t>
            </a:r>
            <a:endParaRPr lang="en-US" sz="1100" dirty="0"/>
          </a:p>
        </p:txBody>
      </p:sp>
      <p:sp>
        <p:nvSpPr>
          <p:cNvPr id="18" name="Text 16"/>
          <p:cNvSpPr/>
          <p:nvPr/>
        </p:nvSpPr>
        <p:spPr>
          <a:xfrm>
            <a:off x="4663440" y="3794760"/>
            <a:ext cx="2834640" cy="640080"/>
          </a:xfrm>
          <a:prstGeom prst="rect">
            <a:avLst/>
          </a:prstGeom>
          <a:noFill/>
          <a:ln/>
        </p:spPr>
        <p:txBody>
          <a:bodyPr wrap="square" rtlCol="0" anchor="ctr"/>
          <a:lstStyle/>
          <a:p>
            <a:pPr indent="0" marL="0">
              <a:lnSpc>
                <a:spcPts val="1500"/>
              </a:lnSpc>
              <a:buNone/>
            </a:pPr>
            <a:r>
              <a:rPr lang="en-US" sz="1100" dirty="0">
                <a:solidFill>
                  <a:srgbClr val="94A3B8"/>
                </a:solidFill>
                <a:latin typeface="Arial" pitchFamily="34" charset="0"/>
                <a:ea typeface="Arial" pitchFamily="34" charset="-122"/>
                <a:cs typeface="Arial" pitchFamily="34" charset="-120"/>
              </a:rPr>
              <a:t>• वेव ऑसिलेशन व वर्टिकल राइज वेक्टर</a:t>
            </a:r>
            <a:endParaRPr lang="en-US" sz="1100" dirty="0"/>
          </a:p>
        </p:txBody>
      </p:sp>
      <p:sp>
        <p:nvSpPr>
          <p:cNvPr id="19" name="Text 17"/>
          <p:cNvSpPr/>
          <p:nvPr/>
        </p:nvSpPr>
        <p:spPr>
          <a:xfrm>
            <a:off x="4663440" y="4480560"/>
            <a:ext cx="2834640" cy="640080"/>
          </a:xfrm>
          <a:prstGeom prst="rect">
            <a:avLst/>
          </a:prstGeom>
          <a:noFill/>
          <a:ln/>
        </p:spPr>
        <p:txBody>
          <a:bodyPr wrap="square" rtlCol="0" anchor="ctr"/>
          <a:lstStyle/>
          <a:p>
            <a:pPr indent="0" marL="0">
              <a:lnSpc>
                <a:spcPts val="1500"/>
              </a:lnSpc>
              <a:buNone/>
            </a:pPr>
            <a:r>
              <a:rPr lang="en-US" sz="1100" dirty="0">
                <a:solidFill>
                  <a:srgbClr val="94A3B8"/>
                </a:solidFill>
                <a:latin typeface="Arial" pitchFamily="34" charset="0"/>
                <a:ea typeface="Arial" pitchFamily="34" charset="-122"/>
                <a:cs typeface="Arial" pitchFamily="34" charset="-120"/>
              </a:rPr>
              <a:t>• मोशन डेडबैंड (Jitter Deadband) से हाथ कंपन फिल्टर</a:t>
            </a:r>
            <a:endParaRPr lang="en-US" sz="1100" dirty="0"/>
          </a:p>
        </p:txBody>
      </p:sp>
      <p:sp>
        <p:nvSpPr>
          <p:cNvPr id="20" name="Text 18"/>
          <p:cNvSpPr/>
          <p:nvPr/>
        </p:nvSpPr>
        <p:spPr>
          <a:xfrm>
            <a:off x="4663440" y="5166360"/>
            <a:ext cx="2834640" cy="640080"/>
          </a:xfrm>
          <a:prstGeom prst="rect">
            <a:avLst/>
          </a:prstGeom>
          <a:noFill/>
          <a:ln/>
        </p:spPr>
        <p:txBody>
          <a:bodyPr wrap="square" rtlCol="0" anchor="ctr"/>
          <a:lstStyle/>
          <a:p>
            <a:pPr indent="0" marL="0">
              <a:lnSpc>
                <a:spcPts val="1500"/>
              </a:lnSpc>
              <a:buNone/>
            </a:pPr>
            <a:r>
              <a:rPr lang="en-US" sz="1100" dirty="0">
                <a:solidFill>
                  <a:srgbClr val="94A3B8"/>
                </a:solidFill>
                <a:latin typeface="Arial" pitchFamily="34" charset="0"/>
                <a:ea typeface="Arial" pitchFamily="34" charset="-122"/>
                <a:cs typeface="Arial" pitchFamily="34" charset="-120"/>
              </a:rPr>
              <a:t>• स्थिर पोज़ (Static) और गतिशील गति (Good Morning, Bye) में भेद</a:t>
            </a:r>
            <a:endParaRPr lang="en-US" sz="1100" dirty="0"/>
          </a:p>
        </p:txBody>
      </p:sp>
      <p:sp>
        <p:nvSpPr>
          <p:cNvPr id="21" name="Shape 19"/>
          <p:cNvSpPr/>
          <p:nvPr/>
        </p:nvSpPr>
        <p:spPr>
          <a:xfrm>
            <a:off x="8046720" y="1920240"/>
            <a:ext cx="3383280" cy="4206240"/>
          </a:xfrm>
          <a:prstGeom prst="roundRect">
            <a:avLst>
              <a:gd name="adj" fmla="val 4054"/>
            </a:avLst>
          </a:prstGeom>
          <a:solidFill>
            <a:srgbClr val="1C2541"/>
          </a:solidFill>
          <a:ln w="25400">
            <a:solidFill>
              <a:srgbClr val="A855F7"/>
            </a:solidFill>
            <a:prstDash val="solid"/>
          </a:ln>
        </p:spPr>
      </p:sp>
      <p:sp>
        <p:nvSpPr>
          <p:cNvPr id="22" name="Text 20"/>
          <p:cNvSpPr/>
          <p:nvPr/>
        </p:nvSpPr>
        <p:spPr>
          <a:xfrm>
            <a:off x="8321040" y="2103120"/>
            <a:ext cx="2834640" cy="365760"/>
          </a:xfrm>
          <a:prstGeom prst="rect">
            <a:avLst/>
          </a:prstGeom>
          <a:noFill/>
          <a:ln/>
        </p:spPr>
        <p:txBody>
          <a:bodyPr wrap="square" rtlCol="0" anchor="ctr"/>
          <a:lstStyle/>
          <a:p>
            <a:pPr indent="0" marL="0">
              <a:buNone/>
            </a:pPr>
            <a:r>
              <a:rPr lang="en-US" sz="1100" b="1" dirty="0">
                <a:solidFill>
                  <a:srgbClr val="A855F7"/>
                </a:solidFill>
                <a:latin typeface="Arial" pitchFamily="34" charset="0"/>
                <a:ea typeface="Arial" pitchFamily="34" charset="-122"/>
                <a:cs typeface="Arial" pitchFamily="34" charset="-120"/>
              </a:rPr>
              <a:t>🧠  ENGINE 3</a:t>
            </a:r>
            <a:endParaRPr lang="en-US" sz="1100" dirty="0"/>
          </a:p>
        </p:txBody>
      </p:sp>
      <p:sp>
        <p:nvSpPr>
          <p:cNvPr id="23" name="Text 21"/>
          <p:cNvSpPr/>
          <p:nvPr/>
        </p:nvSpPr>
        <p:spPr>
          <a:xfrm>
            <a:off x="8321040" y="2468880"/>
            <a:ext cx="2834640" cy="548640"/>
          </a:xfrm>
          <a:prstGeom prst="rect">
            <a:avLst/>
          </a:prstGeom>
          <a:noFill/>
          <a:ln/>
        </p:spPr>
        <p:txBody>
          <a:bodyPr wrap="square" rtlCol="0" anchor="ctr"/>
          <a:lstStyle/>
          <a:p>
            <a:pPr indent="0" marL="0">
              <a:buNone/>
            </a:pPr>
            <a:r>
              <a:rPr lang="en-US" sz="1600" b="1" dirty="0">
                <a:solidFill>
                  <a:srgbClr val="F8FAFC"/>
                </a:solidFill>
                <a:latin typeface="Arial" pitchFamily="34" charset="0"/>
                <a:ea typeface="Arial" pitchFamily="34" charset="-122"/>
                <a:cs typeface="Arial" pitchFamily="34" charset="-120"/>
              </a:rPr>
              <a:t>AI Hindi Synthesizer</a:t>
            </a:r>
            <a:endParaRPr lang="en-US" sz="1600" dirty="0"/>
          </a:p>
        </p:txBody>
      </p:sp>
      <p:sp>
        <p:nvSpPr>
          <p:cNvPr id="24" name="Text 22"/>
          <p:cNvSpPr/>
          <p:nvPr/>
        </p:nvSpPr>
        <p:spPr>
          <a:xfrm>
            <a:off x="8321040" y="3108960"/>
            <a:ext cx="2834640" cy="640080"/>
          </a:xfrm>
          <a:prstGeom prst="rect">
            <a:avLst/>
          </a:prstGeom>
          <a:noFill/>
          <a:ln/>
        </p:spPr>
        <p:txBody>
          <a:bodyPr wrap="square" rtlCol="0" anchor="ctr"/>
          <a:lstStyle/>
          <a:p>
            <a:pPr indent="0" marL="0">
              <a:lnSpc>
                <a:spcPts val="1500"/>
              </a:lnSpc>
              <a:buNone/>
            </a:pPr>
            <a:r>
              <a:rPr lang="en-US" sz="1100" dirty="0">
                <a:solidFill>
                  <a:srgbClr val="94A3B8"/>
                </a:solidFill>
                <a:latin typeface="Arial" pitchFamily="34" charset="0"/>
                <a:ea typeface="Arial" pitchFamily="34" charset="-122"/>
                <a:cs typeface="Arial" pitchFamily="34" charset="-120"/>
              </a:rPr>
              <a:t>• टूटे सांकेतिक टोकन्स का एकत्रीकरण</a:t>
            </a:r>
            <a:endParaRPr lang="en-US" sz="1100" dirty="0"/>
          </a:p>
        </p:txBody>
      </p:sp>
      <p:sp>
        <p:nvSpPr>
          <p:cNvPr id="25" name="Text 23"/>
          <p:cNvSpPr/>
          <p:nvPr/>
        </p:nvSpPr>
        <p:spPr>
          <a:xfrm>
            <a:off x="8321040" y="3794760"/>
            <a:ext cx="2834640" cy="640080"/>
          </a:xfrm>
          <a:prstGeom prst="rect">
            <a:avLst/>
          </a:prstGeom>
          <a:noFill/>
          <a:ln/>
        </p:spPr>
        <p:txBody>
          <a:bodyPr wrap="square" rtlCol="0" anchor="ctr"/>
          <a:lstStyle/>
          <a:p>
            <a:pPr indent="0" marL="0">
              <a:lnSpc>
                <a:spcPts val="1500"/>
              </a:lnSpc>
              <a:buNone/>
            </a:pPr>
            <a:r>
              <a:rPr lang="en-US" sz="1100" dirty="0">
                <a:solidFill>
                  <a:srgbClr val="94A3B8"/>
                </a:solidFill>
                <a:latin typeface="Arial" pitchFamily="34" charset="0"/>
                <a:ea typeface="Arial" pitchFamily="34" charset="-122"/>
                <a:cs typeface="Arial" pitchFamily="34" charset="-120"/>
              </a:rPr>
              <a:t>• जेमिनी AI व्याकरण निर्माण (Natural Hindi NLP)</a:t>
            </a:r>
            <a:endParaRPr lang="en-US" sz="1100" dirty="0"/>
          </a:p>
        </p:txBody>
      </p:sp>
      <p:sp>
        <p:nvSpPr>
          <p:cNvPr id="26" name="Text 24"/>
          <p:cNvSpPr/>
          <p:nvPr/>
        </p:nvSpPr>
        <p:spPr>
          <a:xfrm>
            <a:off x="8321040" y="4480560"/>
            <a:ext cx="2834640" cy="640080"/>
          </a:xfrm>
          <a:prstGeom prst="rect">
            <a:avLst/>
          </a:prstGeom>
          <a:noFill/>
          <a:ln/>
        </p:spPr>
        <p:txBody>
          <a:bodyPr wrap="square" rtlCol="0" anchor="ctr"/>
          <a:lstStyle/>
          <a:p>
            <a:pPr indent="0" marL="0">
              <a:lnSpc>
                <a:spcPts val="1500"/>
              </a:lnSpc>
              <a:buNone/>
            </a:pPr>
            <a:r>
              <a:rPr lang="en-US" sz="1100" dirty="0">
                <a:solidFill>
                  <a:srgbClr val="94A3B8"/>
                </a:solidFill>
                <a:latin typeface="Arial" pitchFamily="34" charset="0"/>
                <a:ea typeface="Arial" pitchFamily="34" charset="-122"/>
                <a:cs typeface="Arial" pitchFamily="34" charset="-120"/>
              </a:rPr>
              <a:t>• उदा: [चाचा] [नमस्ते] [पानी] ➔ "नमस्ते चाचा जी, पानी चाहिए"</a:t>
            </a:r>
            <a:endParaRPr lang="en-US" sz="1100" dirty="0"/>
          </a:p>
        </p:txBody>
      </p:sp>
      <p:sp>
        <p:nvSpPr>
          <p:cNvPr id="27" name="Text 25"/>
          <p:cNvSpPr/>
          <p:nvPr/>
        </p:nvSpPr>
        <p:spPr>
          <a:xfrm>
            <a:off x="8321040" y="5166360"/>
            <a:ext cx="2834640" cy="640080"/>
          </a:xfrm>
          <a:prstGeom prst="rect">
            <a:avLst/>
          </a:prstGeom>
          <a:noFill/>
          <a:ln/>
        </p:spPr>
        <p:txBody>
          <a:bodyPr wrap="square" rtlCol="0" anchor="ctr"/>
          <a:lstStyle/>
          <a:p>
            <a:pPr indent="0" marL="0">
              <a:lnSpc>
                <a:spcPts val="1500"/>
              </a:lnSpc>
              <a:buNone/>
            </a:pPr>
            <a:r>
              <a:rPr lang="en-US" sz="1100" dirty="0">
                <a:solidFill>
                  <a:srgbClr val="94A3B8"/>
                </a:solidFill>
                <a:latin typeface="Arial" pitchFamily="34" charset="0"/>
                <a:ea typeface="Arial" pitchFamily="34" charset="-122"/>
                <a:cs typeface="Arial" pitchFamily="34" charset="-120"/>
              </a:rPr>
              <a:t>• Web Speech API से शुद्ध हिंदी वॉयस आउटपुट</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0B981"/>
          </a:solidFill>
          <a:ln/>
        </p:spPr>
      </p:sp>
      <p:sp>
        <p:nvSpPr>
          <p:cNvPr id="3" name="Text 1"/>
          <p:cNvSpPr/>
          <p:nvPr/>
        </p:nvSpPr>
        <p:spPr>
          <a:xfrm>
            <a:off x="731520" y="411480"/>
            <a:ext cx="5486400" cy="32004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PATENT-PENDING INNOVATION</a:t>
            </a:r>
            <a:endParaRPr lang="en-US" sz="1000" dirty="0"/>
          </a:p>
        </p:txBody>
      </p:sp>
      <p:sp>
        <p:nvSpPr>
          <p:cNvPr id="4" name="Text 2"/>
          <p:cNvSpPr/>
          <p:nvPr/>
        </p:nvSpPr>
        <p:spPr>
          <a:xfrm>
            <a:off x="731520" y="731520"/>
            <a:ext cx="10515600" cy="594360"/>
          </a:xfrm>
          <a:prstGeom prst="rect">
            <a:avLst/>
          </a:prstGeom>
          <a:noFill/>
          <a:ln/>
        </p:spPr>
        <p:txBody>
          <a:bodyPr wrap="square" rtlCol="0" anchor="ctr"/>
          <a:lstStyle/>
          <a:p>
            <a:pPr indent="0" marL="0">
              <a:buNone/>
            </a:pPr>
            <a:r>
              <a:rPr lang="en-US" sz="2600" b="1" dirty="0">
                <a:solidFill>
                  <a:srgbClr val="F8FAFC"/>
                </a:solidFill>
                <a:latin typeface="Arial" pitchFamily="34" charset="0"/>
                <a:ea typeface="Arial" pitchFamily="34" charset="-122"/>
                <a:cs typeface="Arial" pitchFamily="34" charset="-120"/>
              </a:rPr>
              <a:t>3-Step Hands-Free Sign Studio</a:t>
            </a:r>
            <a:endParaRPr lang="en-US" sz="2600" dirty="0"/>
          </a:p>
        </p:txBody>
      </p:sp>
      <p:sp>
        <p:nvSpPr>
          <p:cNvPr id="5" name="Text 3"/>
          <p:cNvSpPr/>
          <p:nvPr/>
        </p:nvSpPr>
        <p:spPr>
          <a:xfrm>
            <a:off x="731520" y="1325880"/>
            <a:ext cx="10515600" cy="36576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Teach any custom university, hospital or departmental sign in 15 seconds</a:t>
            </a:r>
            <a:endParaRPr lang="en-US" sz="1300" dirty="0"/>
          </a:p>
        </p:txBody>
      </p:sp>
      <p:sp>
        <p:nvSpPr>
          <p:cNvPr id="6" name="Text 4"/>
          <p:cNvSpPr/>
          <p:nvPr/>
        </p:nvSpPr>
        <p:spPr>
          <a:xfrm>
            <a:off x="731520" y="6492240"/>
            <a:ext cx="82296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बोली-साइन (BoliSign) • Real-Time ISL to Hindi Speech • Hackathon 2026</a:t>
            </a:r>
            <a:endParaRPr lang="en-US" sz="900" dirty="0"/>
          </a:p>
        </p:txBody>
      </p:sp>
      <p:sp>
        <p:nvSpPr>
          <p:cNvPr id="7" name="Shape 5"/>
          <p:cNvSpPr/>
          <p:nvPr/>
        </p:nvSpPr>
        <p:spPr>
          <a:xfrm>
            <a:off x="731520" y="1920240"/>
            <a:ext cx="3383280" cy="2926080"/>
          </a:xfrm>
          <a:prstGeom prst="roundRect">
            <a:avLst>
              <a:gd name="adj" fmla="val 4688"/>
            </a:avLst>
          </a:prstGeom>
          <a:solidFill>
            <a:srgbClr val="1C2541"/>
          </a:solidFill>
          <a:ln w="25400">
            <a:solidFill>
              <a:srgbClr val="38BDF8"/>
            </a:solidFill>
            <a:prstDash val="solid"/>
          </a:ln>
        </p:spPr>
      </p:sp>
      <p:sp>
        <p:nvSpPr>
          <p:cNvPr id="8" name="Text 6"/>
          <p:cNvSpPr/>
          <p:nvPr/>
        </p:nvSpPr>
        <p:spPr>
          <a:xfrm>
            <a:off x="1005840" y="2103120"/>
            <a:ext cx="2834640" cy="365760"/>
          </a:xfrm>
          <a:prstGeom prst="rect">
            <a:avLst/>
          </a:prstGeom>
          <a:noFill/>
          <a:ln/>
        </p:spPr>
        <p:txBody>
          <a:bodyPr wrap="square" rtlCol="0" anchor="ctr"/>
          <a:lstStyle/>
          <a:p>
            <a:pPr indent="0" marL="0">
              <a:buNone/>
            </a:pPr>
            <a:r>
              <a:rPr lang="en-US" sz="1200" b="1" dirty="0">
                <a:solidFill>
                  <a:srgbClr val="38BDF8"/>
                </a:solidFill>
                <a:latin typeface="Arial" pitchFamily="34" charset="0"/>
                <a:ea typeface="Arial" pitchFamily="34" charset="-122"/>
                <a:cs typeface="Arial" pitchFamily="34" charset="-120"/>
              </a:rPr>
              <a:t>STEP 1</a:t>
            </a:r>
            <a:endParaRPr lang="en-US" sz="1200" dirty="0"/>
          </a:p>
        </p:txBody>
      </p:sp>
      <p:sp>
        <p:nvSpPr>
          <p:cNvPr id="9" name="Text 7"/>
          <p:cNvSpPr/>
          <p:nvPr/>
        </p:nvSpPr>
        <p:spPr>
          <a:xfrm>
            <a:off x="1005840" y="2468880"/>
            <a:ext cx="2834640" cy="548640"/>
          </a:xfrm>
          <a:prstGeom prst="rect">
            <a:avLst/>
          </a:prstGeom>
          <a:noFill/>
          <a:ln/>
        </p:spPr>
        <p:txBody>
          <a:bodyPr wrap="square" rtlCol="0" anchor="ctr"/>
          <a:lstStyle/>
          <a:p>
            <a:pPr indent="0" marL="0">
              <a:buNone/>
            </a:pPr>
            <a:r>
              <a:rPr lang="en-US" sz="1500" b="1" dirty="0">
                <a:solidFill>
                  <a:srgbClr val="F8FAFC"/>
                </a:solidFill>
                <a:latin typeface="Arial" pitchFamily="34" charset="0"/>
                <a:ea typeface="Arial" pitchFamily="34" charset="-122"/>
                <a:cs typeface="Arial" pitchFamily="34" charset="-120"/>
              </a:rPr>
              <a:t>साइन मेटाडेटा व बॉडी लोकेशन</a:t>
            </a:r>
            <a:endParaRPr lang="en-US" sz="1500" dirty="0"/>
          </a:p>
        </p:txBody>
      </p:sp>
      <p:sp>
        <p:nvSpPr>
          <p:cNvPr id="10" name="Text 8"/>
          <p:cNvSpPr/>
          <p:nvPr/>
        </p:nvSpPr>
        <p:spPr>
          <a:xfrm>
            <a:off x="1005840" y="3108960"/>
            <a:ext cx="2834640" cy="1463040"/>
          </a:xfrm>
          <a:prstGeom prst="rect">
            <a:avLst/>
          </a:prstGeom>
          <a:noFill/>
          <a:ln/>
        </p:spPr>
        <p:txBody>
          <a:bodyPr wrap="square" rtlCol="0" anchor="ctr"/>
          <a:lstStyle/>
          <a:p>
            <a:pPr indent="0" marL="0">
              <a:lnSpc>
                <a:spcPts val="1600"/>
              </a:lnSpc>
              <a:buNone/>
            </a:pPr>
            <a:r>
              <a:rPr lang="en-US" sz="1200" dirty="0">
                <a:solidFill>
                  <a:srgbClr val="94A3B8"/>
                </a:solidFill>
                <a:latin typeface="Arial" pitchFamily="34" charset="0"/>
                <a:ea typeface="Arial" pitchFamily="34" charset="-122"/>
                <a:cs typeface="Arial" pitchFamily="34" charset="-120"/>
              </a:rPr>
              <a:t>साइन का नाम लिखें और शरीर का एंकर स्थान चुनें (माथा, ठोड़ी, गाल, सीना या खुला स्पेस)।</a:t>
            </a:r>
            <a:endParaRPr lang="en-US" sz="1200" dirty="0"/>
          </a:p>
        </p:txBody>
      </p:sp>
      <p:sp>
        <p:nvSpPr>
          <p:cNvPr id="11" name="Shape 9"/>
          <p:cNvSpPr/>
          <p:nvPr/>
        </p:nvSpPr>
        <p:spPr>
          <a:xfrm>
            <a:off x="4389120" y="1920240"/>
            <a:ext cx="3383280" cy="2926080"/>
          </a:xfrm>
          <a:prstGeom prst="roundRect">
            <a:avLst>
              <a:gd name="adj" fmla="val 4688"/>
            </a:avLst>
          </a:prstGeom>
          <a:solidFill>
            <a:srgbClr val="1C2541"/>
          </a:solidFill>
          <a:ln w="25400">
            <a:solidFill>
              <a:srgbClr val="10B981"/>
            </a:solidFill>
            <a:prstDash val="solid"/>
          </a:ln>
        </p:spPr>
      </p:sp>
      <p:sp>
        <p:nvSpPr>
          <p:cNvPr id="12" name="Text 10"/>
          <p:cNvSpPr/>
          <p:nvPr/>
        </p:nvSpPr>
        <p:spPr>
          <a:xfrm>
            <a:off x="4663440" y="2103120"/>
            <a:ext cx="2834640" cy="365760"/>
          </a:xfrm>
          <a:prstGeom prst="rect">
            <a:avLst/>
          </a:prstGeom>
          <a:noFill/>
          <a:ln/>
        </p:spPr>
        <p:txBody>
          <a:bodyPr wrap="square" rtlCol="0" anchor="ctr"/>
          <a:lstStyle/>
          <a:p>
            <a:pPr indent="0" marL="0">
              <a:buNone/>
            </a:pPr>
            <a:r>
              <a:rPr lang="en-US" sz="1200" b="1" dirty="0">
                <a:solidFill>
                  <a:srgbClr val="10B981"/>
                </a:solidFill>
                <a:latin typeface="Arial" pitchFamily="34" charset="0"/>
                <a:ea typeface="Arial" pitchFamily="34" charset="-122"/>
                <a:cs typeface="Arial" pitchFamily="34" charset="-120"/>
              </a:rPr>
              <a:t>STEP 2</a:t>
            </a:r>
            <a:endParaRPr lang="en-US" sz="1200" dirty="0"/>
          </a:p>
        </p:txBody>
      </p:sp>
      <p:sp>
        <p:nvSpPr>
          <p:cNvPr id="13" name="Text 11"/>
          <p:cNvSpPr/>
          <p:nvPr/>
        </p:nvSpPr>
        <p:spPr>
          <a:xfrm>
            <a:off x="4663440" y="2468880"/>
            <a:ext cx="2834640" cy="548640"/>
          </a:xfrm>
          <a:prstGeom prst="rect">
            <a:avLst/>
          </a:prstGeom>
          <a:noFill/>
          <a:ln/>
        </p:spPr>
        <p:txBody>
          <a:bodyPr wrap="square" rtlCol="0" anchor="ctr"/>
          <a:lstStyle/>
          <a:p>
            <a:pPr indent="0" marL="0">
              <a:buNone/>
            </a:pPr>
            <a:r>
              <a:rPr lang="en-US" sz="1500" b="1" dirty="0">
                <a:solidFill>
                  <a:srgbClr val="F8FAFC"/>
                </a:solidFill>
                <a:latin typeface="Arial" pitchFamily="34" charset="0"/>
                <a:ea typeface="Arial" pitchFamily="34" charset="-122"/>
                <a:cs typeface="Arial" pitchFamily="34" charset="-120"/>
              </a:rPr>
              <a:t>हैंड्स-फ्री 3-2-1 बीप टाइमर</a:t>
            </a:r>
            <a:endParaRPr lang="en-US" sz="1500" dirty="0"/>
          </a:p>
        </p:txBody>
      </p:sp>
      <p:sp>
        <p:nvSpPr>
          <p:cNvPr id="14" name="Text 12"/>
          <p:cNvSpPr/>
          <p:nvPr/>
        </p:nvSpPr>
        <p:spPr>
          <a:xfrm>
            <a:off x="4663440" y="3108960"/>
            <a:ext cx="2834640" cy="1463040"/>
          </a:xfrm>
          <a:prstGeom prst="rect">
            <a:avLst/>
          </a:prstGeom>
          <a:noFill/>
          <a:ln/>
        </p:spPr>
        <p:txBody>
          <a:bodyPr wrap="square" rtlCol="0" anchor="ctr"/>
          <a:lstStyle/>
          <a:p>
            <a:pPr indent="0" marL="0">
              <a:lnSpc>
                <a:spcPts val="1600"/>
              </a:lnSpc>
              <a:buNone/>
            </a:pPr>
            <a:r>
              <a:rPr lang="en-US" sz="1200" dirty="0">
                <a:solidFill>
                  <a:srgbClr val="94A3B8"/>
                </a:solidFill>
                <a:latin typeface="Arial" pitchFamily="34" charset="0"/>
                <a:ea typeface="Arial" pitchFamily="34" charset="-122"/>
                <a:cs typeface="Arial" pitchFamily="34" charset="-120"/>
              </a:rPr>
              <a:t>माउस या कीबोर्ड छूने की ज़रूरत नहीं! वेब ऑडियो बीप (440Hz -&gt; 880Hz) सुनते ही पोज़ बनाएं, 0 पर पोज़ साइलेंट स्नैप!</a:t>
            </a:r>
            <a:endParaRPr lang="en-US" sz="1200" dirty="0"/>
          </a:p>
        </p:txBody>
      </p:sp>
      <p:sp>
        <p:nvSpPr>
          <p:cNvPr id="15" name="Shape 13"/>
          <p:cNvSpPr/>
          <p:nvPr/>
        </p:nvSpPr>
        <p:spPr>
          <a:xfrm>
            <a:off x="8046720" y="1920240"/>
            <a:ext cx="3383280" cy="2926080"/>
          </a:xfrm>
          <a:prstGeom prst="roundRect">
            <a:avLst>
              <a:gd name="adj" fmla="val 4688"/>
            </a:avLst>
          </a:prstGeom>
          <a:solidFill>
            <a:srgbClr val="1C2541"/>
          </a:solidFill>
          <a:ln w="25400">
            <a:solidFill>
              <a:srgbClr val="A855F7"/>
            </a:solidFill>
            <a:prstDash val="solid"/>
          </a:ln>
        </p:spPr>
      </p:sp>
      <p:sp>
        <p:nvSpPr>
          <p:cNvPr id="16" name="Text 14"/>
          <p:cNvSpPr/>
          <p:nvPr/>
        </p:nvSpPr>
        <p:spPr>
          <a:xfrm>
            <a:off x="8321040" y="2103120"/>
            <a:ext cx="2834640" cy="365760"/>
          </a:xfrm>
          <a:prstGeom prst="rect">
            <a:avLst/>
          </a:prstGeom>
          <a:noFill/>
          <a:ln/>
        </p:spPr>
        <p:txBody>
          <a:bodyPr wrap="square" rtlCol="0" anchor="ctr"/>
          <a:lstStyle/>
          <a:p>
            <a:pPr indent="0" marL="0">
              <a:buNone/>
            </a:pPr>
            <a:r>
              <a:rPr lang="en-US" sz="1200" b="1" dirty="0">
                <a:solidFill>
                  <a:srgbClr val="A855F7"/>
                </a:solidFill>
                <a:latin typeface="Arial" pitchFamily="34" charset="0"/>
                <a:ea typeface="Arial" pitchFamily="34" charset="-122"/>
                <a:cs typeface="Arial" pitchFamily="34" charset="-120"/>
              </a:rPr>
              <a:t>STEP 3</a:t>
            </a:r>
            <a:endParaRPr lang="en-US" sz="1200" dirty="0"/>
          </a:p>
        </p:txBody>
      </p:sp>
      <p:sp>
        <p:nvSpPr>
          <p:cNvPr id="17" name="Text 15"/>
          <p:cNvSpPr/>
          <p:nvPr/>
        </p:nvSpPr>
        <p:spPr>
          <a:xfrm>
            <a:off x="8321040" y="2468880"/>
            <a:ext cx="2834640" cy="548640"/>
          </a:xfrm>
          <a:prstGeom prst="rect">
            <a:avLst/>
          </a:prstGeom>
          <a:noFill/>
          <a:ln/>
        </p:spPr>
        <p:txBody>
          <a:bodyPr wrap="square" rtlCol="0" anchor="ctr"/>
          <a:lstStyle/>
          <a:p>
            <a:pPr indent="0" marL="0">
              <a:buNone/>
            </a:pPr>
            <a:r>
              <a:rPr lang="en-US" sz="1500" b="1" dirty="0">
                <a:solidFill>
                  <a:srgbClr val="F8FAFC"/>
                </a:solidFill>
                <a:latin typeface="Arial" pitchFamily="34" charset="0"/>
                <a:ea typeface="Arial" pitchFamily="34" charset="-122"/>
                <a:cs typeface="Arial" pitchFamily="34" charset="-120"/>
              </a:rPr>
              <a:t>लाइव सैंडबॉक्स व कंफ्लिक्ट चेकर</a:t>
            </a:r>
            <a:endParaRPr lang="en-US" sz="1500" dirty="0"/>
          </a:p>
        </p:txBody>
      </p:sp>
      <p:sp>
        <p:nvSpPr>
          <p:cNvPr id="18" name="Text 16"/>
          <p:cNvSpPr/>
          <p:nvPr/>
        </p:nvSpPr>
        <p:spPr>
          <a:xfrm>
            <a:off x="8321040" y="3108960"/>
            <a:ext cx="2834640" cy="1463040"/>
          </a:xfrm>
          <a:prstGeom prst="rect">
            <a:avLst/>
          </a:prstGeom>
          <a:noFill/>
          <a:ln/>
        </p:spPr>
        <p:txBody>
          <a:bodyPr wrap="square" rtlCol="0" anchor="ctr"/>
          <a:lstStyle/>
          <a:p>
            <a:pPr indent="0" marL="0">
              <a:lnSpc>
                <a:spcPts val="1600"/>
              </a:lnSpc>
              <a:buNone/>
            </a:pPr>
            <a:r>
              <a:rPr lang="en-US" sz="1200" dirty="0">
                <a:solidFill>
                  <a:srgbClr val="94A3B8"/>
                </a:solidFill>
                <a:latin typeface="Arial" pitchFamily="34" charset="0"/>
                <a:ea typeface="Arial" pitchFamily="34" charset="-122"/>
                <a:cs typeface="Arial" pitchFamily="34" charset="-120"/>
              </a:rPr>
              <a:t>0-100% मैच मीटर से तुरंत टेस्ट करें। यदि नया इशारा पुराने साइन (जैसे नमस्ते या पानी) से टकराएगा, तो अलर्ट मिलेगा।</a:t>
            </a:r>
            <a:endParaRPr lang="en-US" sz="1200" dirty="0"/>
          </a:p>
        </p:txBody>
      </p:sp>
      <p:sp>
        <p:nvSpPr>
          <p:cNvPr id="19" name="Shape 17"/>
          <p:cNvSpPr/>
          <p:nvPr/>
        </p:nvSpPr>
        <p:spPr>
          <a:xfrm>
            <a:off x="731520" y="5120640"/>
            <a:ext cx="10725912" cy="1097280"/>
          </a:xfrm>
          <a:prstGeom prst="roundRect">
            <a:avLst>
              <a:gd name="adj" fmla="val 12500"/>
            </a:avLst>
          </a:prstGeom>
          <a:solidFill>
            <a:srgbClr val="142238"/>
          </a:solidFill>
          <a:ln w="19050">
            <a:solidFill>
              <a:srgbClr val="10B981"/>
            </a:solidFill>
            <a:prstDash val="solid"/>
          </a:ln>
        </p:spPr>
      </p:sp>
      <p:sp>
        <p:nvSpPr>
          <p:cNvPr id="20" name="Text 18"/>
          <p:cNvSpPr/>
          <p:nvPr/>
        </p:nvSpPr>
        <p:spPr>
          <a:xfrm>
            <a:off x="1005840" y="5257800"/>
            <a:ext cx="10058400" cy="320040"/>
          </a:xfrm>
          <a:prstGeom prst="rect">
            <a:avLst/>
          </a:prstGeom>
          <a:noFill/>
          <a:ln/>
        </p:spPr>
        <p:txBody>
          <a:bodyPr wrap="square" rtlCol="0" anchor="ctr"/>
          <a:lstStyle/>
          <a:p>
            <a:pPr indent="0" marL="0">
              <a:buNone/>
            </a:pPr>
            <a:r>
              <a:rPr lang="en-US" sz="1200" b="1" dirty="0">
                <a:solidFill>
                  <a:srgbClr val="10B981"/>
                </a:solidFill>
                <a:latin typeface="Arial" pitchFamily="34" charset="0"/>
                <a:ea typeface="Arial" pitchFamily="34" charset="-122"/>
                <a:cs typeface="Arial" pitchFamily="34" charset="-120"/>
              </a:rPr>
              <a:t>💡 Vercel-Ready हाइब्रिड पर्सिस्टेंस (Hybrid Persistence Engine):</a:t>
            </a:r>
            <a:endParaRPr lang="en-US" sz="1200" dirty="0"/>
          </a:p>
        </p:txBody>
      </p:sp>
      <p:sp>
        <p:nvSpPr>
          <p:cNvPr id="21" name="Text 19"/>
          <p:cNvSpPr/>
          <p:nvPr/>
        </p:nvSpPr>
        <p:spPr>
          <a:xfrm>
            <a:off x="1005840" y="5577840"/>
            <a:ext cx="10058400" cy="502920"/>
          </a:xfrm>
          <a:prstGeom prst="rect">
            <a:avLst/>
          </a:prstGeom>
          <a:noFill/>
          <a:ln/>
        </p:spPr>
        <p:txBody>
          <a:bodyPr wrap="square" rtlCol="0" anchor="ctr"/>
          <a:lstStyle/>
          <a:p>
            <a:pPr indent="0" marL="0">
              <a:buNone/>
            </a:pPr>
            <a:r>
              <a:rPr lang="en-US" sz="1100" dirty="0">
                <a:solidFill>
                  <a:srgbClr val="F8FAFC"/>
                </a:solidFill>
                <a:latin typeface="Arial" pitchFamily="34" charset="0"/>
                <a:ea typeface="Arial" pitchFamily="34" charset="-122"/>
                <a:cs typeface="Arial" pitchFamily="34" charset="-120"/>
              </a:rPr>
              <a:t>ब्राउज़र LocalStorage और बैकएंड API के बीच रियल-टाइम सिंक। सर्वरलेस रीस्टार्ट होने पर भी कॉलेज या यूजर द्वारा सिखाए गए कस्टम साइन कभी डिलीट नहीं होते!</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0B981"/>
          </a:solidFill>
          <a:ln/>
        </p:spPr>
      </p:sp>
      <p:sp>
        <p:nvSpPr>
          <p:cNvPr id="3" name="Text 1"/>
          <p:cNvSpPr/>
          <p:nvPr/>
        </p:nvSpPr>
        <p:spPr>
          <a:xfrm>
            <a:off x="731520" y="411480"/>
            <a:ext cx="5486400" cy="32004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INCLUSIVITY &amp; USER EXPERIENCE</a:t>
            </a:r>
            <a:endParaRPr lang="en-US" sz="1000" dirty="0"/>
          </a:p>
        </p:txBody>
      </p:sp>
      <p:sp>
        <p:nvSpPr>
          <p:cNvPr id="4" name="Text 2"/>
          <p:cNvSpPr/>
          <p:nvPr/>
        </p:nvSpPr>
        <p:spPr>
          <a:xfrm>
            <a:off x="731520" y="731520"/>
            <a:ext cx="10515600" cy="594360"/>
          </a:xfrm>
          <a:prstGeom prst="rect">
            <a:avLst/>
          </a:prstGeom>
          <a:noFill/>
          <a:ln/>
        </p:spPr>
        <p:txBody>
          <a:bodyPr wrap="square" rtlCol="0" anchor="ctr"/>
          <a:lstStyle/>
          <a:p>
            <a:pPr indent="0" marL="0">
              <a:buNone/>
            </a:pPr>
            <a:r>
              <a:rPr lang="en-US" sz="2600" b="1" dirty="0">
                <a:solidFill>
                  <a:srgbClr val="F8FAFC"/>
                </a:solidFill>
                <a:latin typeface="Arial" pitchFamily="34" charset="0"/>
                <a:ea typeface="Arial" pitchFamily="34" charset="-122"/>
                <a:cs typeface="Arial" pitchFamily="34" charset="-120"/>
              </a:rPr>
              <a:t>Two-Way Communication Hub</a:t>
            </a:r>
            <a:endParaRPr lang="en-US" sz="2600" dirty="0"/>
          </a:p>
        </p:txBody>
      </p:sp>
      <p:sp>
        <p:nvSpPr>
          <p:cNvPr id="5" name="Text 3"/>
          <p:cNvSpPr/>
          <p:nvPr/>
        </p:nvSpPr>
        <p:spPr>
          <a:xfrm>
            <a:off x="731520" y="1325880"/>
            <a:ext cx="10515600" cy="36576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Because true dialogue requires understanding from both sides</a:t>
            </a:r>
            <a:endParaRPr lang="en-US" sz="1300" dirty="0"/>
          </a:p>
        </p:txBody>
      </p:sp>
      <p:sp>
        <p:nvSpPr>
          <p:cNvPr id="6" name="Text 4"/>
          <p:cNvSpPr/>
          <p:nvPr/>
        </p:nvSpPr>
        <p:spPr>
          <a:xfrm>
            <a:off x="731520" y="6492240"/>
            <a:ext cx="82296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बोली-साइन (BoliSign) • Real-Time ISL to Hindi Speech • Hackathon 2026</a:t>
            </a:r>
            <a:endParaRPr lang="en-US" sz="900" dirty="0"/>
          </a:p>
        </p:txBody>
      </p:sp>
      <p:sp>
        <p:nvSpPr>
          <p:cNvPr id="7" name="Shape 5"/>
          <p:cNvSpPr/>
          <p:nvPr/>
        </p:nvSpPr>
        <p:spPr>
          <a:xfrm>
            <a:off x="731520" y="1920240"/>
            <a:ext cx="5120640" cy="4206240"/>
          </a:xfrm>
          <a:prstGeom prst="roundRect">
            <a:avLst>
              <a:gd name="adj" fmla="val 3261"/>
            </a:avLst>
          </a:prstGeom>
          <a:solidFill>
            <a:srgbClr val="1C2541"/>
          </a:solidFill>
          <a:ln w="25400">
            <a:solidFill>
              <a:srgbClr val="10B981"/>
            </a:solidFill>
            <a:prstDash val="solid"/>
          </a:ln>
        </p:spPr>
      </p:sp>
      <p:sp>
        <p:nvSpPr>
          <p:cNvPr id="8" name="Text 6"/>
          <p:cNvSpPr/>
          <p:nvPr/>
        </p:nvSpPr>
        <p:spPr>
          <a:xfrm>
            <a:off x="1005840" y="2103120"/>
            <a:ext cx="4572000" cy="457200"/>
          </a:xfrm>
          <a:prstGeom prst="rect">
            <a:avLst/>
          </a:prstGeom>
          <a:noFill/>
          <a:ln/>
        </p:spPr>
        <p:txBody>
          <a:bodyPr wrap="square" rtlCol="0" anchor="ctr"/>
          <a:lstStyle/>
          <a:p>
            <a:pPr indent="0" marL="0">
              <a:buNone/>
            </a:pPr>
            <a:r>
              <a:rPr lang="en-US" sz="1800" b="1" dirty="0">
                <a:solidFill>
                  <a:srgbClr val="10B981"/>
                </a:solidFill>
                <a:latin typeface="Arial" pitchFamily="34" charset="0"/>
                <a:ea typeface="Arial" pitchFamily="34" charset="-122"/>
                <a:cs typeface="Arial" pitchFamily="34" charset="-120"/>
              </a:rPr>
              <a:t>📷 MODE 1: Sign to Hindi Speech</a:t>
            </a:r>
            <a:endParaRPr lang="en-US" sz="1800" dirty="0"/>
          </a:p>
        </p:txBody>
      </p:sp>
      <p:sp>
        <p:nvSpPr>
          <p:cNvPr id="9" name="Text 7"/>
          <p:cNvSpPr/>
          <p:nvPr/>
        </p:nvSpPr>
        <p:spPr>
          <a:xfrm>
            <a:off x="1005840" y="2560320"/>
            <a:ext cx="4572000" cy="320040"/>
          </a:xfrm>
          <a:prstGeom prst="rect">
            <a:avLst/>
          </a:prstGeom>
          <a:noFill/>
          <a:ln/>
        </p:spPr>
        <p:txBody>
          <a:bodyPr wrap="square" rtlCol="0" anchor="ctr"/>
          <a:lstStyle/>
          <a:p>
            <a:pPr indent="0" marL="0">
              <a:buNone/>
            </a:pPr>
            <a:r>
              <a:rPr lang="en-US" sz="1200" dirty="0">
                <a:solidFill>
                  <a:srgbClr val="38BDF8"/>
                </a:solidFill>
                <a:latin typeface="Arial" pitchFamily="34" charset="0"/>
                <a:ea typeface="Arial" pitchFamily="34" charset="-122"/>
                <a:cs typeface="Arial" pitchFamily="34" charset="-120"/>
              </a:rPr>
              <a:t>मूक-बधिर साथी के लिए (For the Deaf Companion)</a:t>
            </a:r>
            <a:endParaRPr lang="en-US" sz="1200" dirty="0"/>
          </a:p>
        </p:txBody>
      </p:sp>
      <p:sp>
        <p:nvSpPr>
          <p:cNvPr id="10" name="Text 8"/>
          <p:cNvSpPr/>
          <p:nvPr/>
        </p:nvSpPr>
        <p:spPr>
          <a:xfrm>
            <a:off x="1005840" y="3017520"/>
            <a:ext cx="4572000" cy="1645920"/>
          </a:xfrm>
          <a:prstGeom prst="rect">
            <a:avLst/>
          </a:prstGeom>
          <a:noFill/>
          <a:ln/>
        </p:spPr>
        <p:txBody>
          <a:bodyPr wrap="square" rtlCol="0" anchor="ctr"/>
          <a:lstStyle/>
          <a:p>
            <a:pPr indent="0" marL="0">
              <a:lnSpc>
                <a:spcPts val="2000"/>
              </a:lnSpc>
              <a:buNone/>
            </a:pPr>
            <a:r>
              <a:rPr lang="en-US" sz="1300" dirty="0">
                <a:solidFill>
                  <a:srgbClr val="F8FAFC"/>
                </a:solidFill>
                <a:latin typeface="Arial" pitchFamily="34" charset="0"/>
                <a:ea typeface="Arial" pitchFamily="34" charset="-122"/>
                <a:cs typeface="Arial" pitchFamily="34" charset="-120"/>
              </a:rPr>
              <a:t>• कैमरे के सामने हाथ से स्वाभाविक सांकेतिक भाषा (ISL) में बात करें।</a:t>
            </a:r>
            <a:endParaRPr lang="en-US" sz="1300" dirty="0"/>
          </a:p>
          <a:p>
            <a:pPr indent="0" marL="0">
              <a:lnSpc>
                <a:spcPts val="2000"/>
              </a:lnSpc>
              <a:buNone/>
            </a:pPr>
            <a:r>
              <a:rPr lang="en-US" sz="1300" dirty="0">
                <a:solidFill>
                  <a:srgbClr val="F8FAFC"/>
                </a:solidFill>
                <a:latin typeface="Arial" pitchFamily="34" charset="0"/>
                <a:ea typeface="Arial" pitchFamily="34" charset="-122"/>
                <a:cs typeface="Arial" pitchFamily="34" charset="-120"/>
              </a:rPr>
              <a:t>• सिस्टम तुरंत 21-लैंडमार्क्स और बॉडी एंकर्स से पोज़ पहचानता है।</a:t>
            </a:r>
            <a:endParaRPr lang="en-US" sz="1300" dirty="0"/>
          </a:p>
          <a:p>
            <a:pPr indent="0" marL="0">
              <a:lnSpc>
                <a:spcPts val="2000"/>
              </a:lnSpc>
              <a:buNone/>
            </a:pPr>
            <a:r>
              <a:rPr lang="en-US" sz="1300" dirty="0">
                <a:solidFill>
                  <a:srgbClr val="F8FAFC"/>
                </a:solidFill>
                <a:latin typeface="Arial" pitchFamily="34" charset="0"/>
                <a:ea typeface="Arial" pitchFamily="34" charset="-122"/>
                <a:cs typeface="Arial" pitchFamily="34" charset="-120"/>
              </a:rPr>
              <a:t>• जेमिनी AI टूटे शब्दों को जोड़कर शुद्ध व्याकरण के साथ हिंदी में बोलता है।</a:t>
            </a:r>
            <a:endParaRPr lang="en-US" sz="1300" dirty="0"/>
          </a:p>
        </p:txBody>
      </p:sp>
      <p:sp>
        <p:nvSpPr>
          <p:cNvPr id="11" name="Shape 9"/>
          <p:cNvSpPr/>
          <p:nvPr/>
        </p:nvSpPr>
        <p:spPr>
          <a:xfrm>
            <a:off x="1005840" y="4846320"/>
            <a:ext cx="4572000" cy="1005840"/>
          </a:xfrm>
          <a:prstGeom prst="roundRect">
            <a:avLst>
              <a:gd name="adj" fmla="val 9091"/>
            </a:avLst>
          </a:prstGeom>
          <a:solidFill>
            <a:srgbClr val="0F172A"/>
          </a:solidFill>
          <a:ln w="12700">
            <a:solidFill>
              <a:srgbClr val="334155"/>
            </a:solidFill>
            <a:prstDash val="solid"/>
          </a:ln>
        </p:spPr>
      </p:sp>
      <p:sp>
        <p:nvSpPr>
          <p:cNvPr id="12" name="Text 10"/>
          <p:cNvSpPr/>
          <p:nvPr/>
        </p:nvSpPr>
        <p:spPr>
          <a:xfrm>
            <a:off x="1143000" y="4937760"/>
            <a:ext cx="4297680" cy="822960"/>
          </a:xfrm>
          <a:prstGeom prst="rect">
            <a:avLst/>
          </a:prstGeom>
          <a:noFill/>
          <a:ln/>
        </p:spPr>
        <p:txBody>
          <a:bodyPr wrap="square" rtlCol="0" anchor="ctr"/>
          <a:lstStyle/>
          <a:p>
            <a:pPr indent="0" marL="0">
              <a:buNone/>
            </a:pPr>
            <a:r>
              <a:rPr lang="en-US" sz="1100" b="1" dirty="0">
                <a:solidFill>
                  <a:srgbClr val="10B981"/>
                </a:solidFill>
                <a:latin typeface="Arial" pitchFamily="34" charset="0"/>
                <a:ea typeface="Arial" pitchFamily="34" charset="-122"/>
                <a:cs typeface="Arial" pitchFamily="34" charset="-120"/>
              </a:rPr>
              <a:t>लाइव उदाहरण:</a:t>
            </a:r>
            <a:endParaRPr lang="en-US" sz="1100" dirty="0"/>
          </a:p>
          <a:p>
            <a:pPr indent="0" marL="0">
              <a:buNone/>
            </a:pPr>
            <a:r>
              <a:rPr lang="en-US" sz="1100" b="1" dirty="0">
                <a:solidFill>
                  <a:srgbClr val="10B981"/>
                </a:solidFill>
                <a:latin typeface="Arial" pitchFamily="34" charset="0"/>
                <a:ea typeface="Arial" pitchFamily="34" charset="-122"/>
                <a:cs typeface="Arial" pitchFamily="34" charset="-120"/>
              </a:rPr>
              <a:t>हाथ से [नमस्ते] + [लाइब्रेरी] ➔ स्पीकर: "नमस्ते, मुझे लाइब्रेरी जाना है।"</a:t>
            </a:r>
            <a:endParaRPr lang="en-US" sz="1100" dirty="0"/>
          </a:p>
        </p:txBody>
      </p:sp>
      <p:sp>
        <p:nvSpPr>
          <p:cNvPr id="13" name="Shape 11"/>
          <p:cNvSpPr/>
          <p:nvPr/>
        </p:nvSpPr>
        <p:spPr>
          <a:xfrm>
            <a:off x="6309360" y="1920240"/>
            <a:ext cx="5120640" cy="4206240"/>
          </a:xfrm>
          <a:prstGeom prst="roundRect">
            <a:avLst>
              <a:gd name="adj" fmla="val 3261"/>
            </a:avLst>
          </a:prstGeom>
          <a:solidFill>
            <a:srgbClr val="1C2541"/>
          </a:solidFill>
          <a:ln w="25400">
            <a:solidFill>
              <a:srgbClr val="A855F7"/>
            </a:solidFill>
            <a:prstDash val="solid"/>
          </a:ln>
        </p:spPr>
      </p:sp>
      <p:sp>
        <p:nvSpPr>
          <p:cNvPr id="14" name="Text 12"/>
          <p:cNvSpPr/>
          <p:nvPr/>
        </p:nvSpPr>
        <p:spPr>
          <a:xfrm>
            <a:off x="6583680" y="2103120"/>
            <a:ext cx="4572000" cy="457200"/>
          </a:xfrm>
          <a:prstGeom prst="rect">
            <a:avLst/>
          </a:prstGeom>
          <a:noFill/>
          <a:ln/>
        </p:spPr>
        <p:txBody>
          <a:bodyPr wrap="square" rtlCol="0" anchor="ctr"/>
          <a:lstStyle/>
          <a:p>
            <a:pPr indent="0" marL="0">
              <a:buNone/>
            </a:pPr>
            <a:r>
              <a:rPr lang="en-US" sz="1800" b="1" dirty="0">
                <a:solidFill>
                  <a:srgbClr val="A855F7"/>
                </a:solidFill>
                <a:latin typeface="Arial" pitchFamily="34" charset="0"/>
                <a:ea typeface="Arial" pitchFamily="34" charset="-122"/>
                <a:cs typeface="Arial" pitchFamily="34" charset="-120"/>
              </a:rPr>
              <a:t>🎙️ MODE 2: Speech to Visual Text</a:t>
            </a:r>
            <a:endParaRPr lang="en-US" sz="1800" dirty="0"/>
          </a:p>
        </p:txBody>
      </p:sp>
      <p:sp>
        <p:nvSpPr>
          <p:cNvPr id="15" name="Text 13"/>
          <p:cNvSpPr/>
          <p:nvPr/>
        </p:nvSpPr>
        <p:spPr>
          <a:xfrm>
            <a:off x="6583680" y="2560320"/>
            <a:ext cx="4572000" cy="320040"/>
          </a:xfrm>
          <a:prstGeom prst="rect">
            <a:avLst/>
          </a:prstGeom>
          <a:noFill/>
          <a:ln/>
        </p:spPr>
        <p:txBody>
          <a:bodyPr wrap="square" rtlCol="0" anchor="ctr"/>
          <a:lstStyle/>
          <a:p>
            <a:pPr indent="0" marL="0">
              <a:buNone/>
            </a:pPr>
            <a:r>
              <a:rPr lang="en-US" sz="1200" dirty="0">
                <a:solidFill>
                  <a:srgbClr val="A855F7"/>
                </a:solidFill>
                <a:latin typeface="Arial" pitchFamily="34" charset="0"/>
                <a:ea typeface="Arial" pitchFamily="34" charset="-122"/>
                <a:cs typeface="Arial" pitchFamily="34" charset="-120"/>
              </a:rPr>
              <a:t>सामान्य श्रोता / कर्मचारी के लिए (For Hearing Persons)</a:t>
            </a:r>
            <a:endParaRPr lang="en-US" sz="1200" dirty="0"/>
          </a:p>
        </p:txBody>
      </p:sp>
      <p:sp>
        <p:nvSpPr>
          <p:cNvPr id="16" name="Text 14"/>
          <p:cNvSpPr/>
          <p:nvPr/>
        </p:nvSpPr>
        <p:spPr>
          <a:xfrm>
            <a:off x="6583680" y="3017520"/>
            <a:ext cx="4572000" cy="1645920"/>
          </a:xfrm>
          <a:prstGeom prst="rect">
            <a:avLst/>
          </a:prstGeom>
          <a:noFill/>
          <a:ln/>
        </p:spPr>
        <p:txBody>
          <a:bodyPr wrap="square" rtlCol="0" anchor="ctr"/>
          <a:lstStyle/>
          <a:p>
            <a:pPr indent="0" marL="0">
              <a:lnSpc>
                <a:spcPts val="2000"/>
              </a:lnSpc>
              <a:buNone/>
            </a:pPr>
            <a:r>
              <a:rPr lang="en-US" sz="1300" dirty="0">
                <a:solidFill>
                  <a:srgbClr val="F8FAFC"/>
                </a:solidFill>
                <a:latin typeface="Arial" pitchFamily="34" charset="0"/>
                <a:ea typeface="Arial" pitchFamily="34" charset="-122"/>
                <a:cs typeface="Arial" pitchFamily="34" charset="-120"/>
              </a:rPr>
              <a:t>• कॉलेज क्लर्क, डॉक्टर या शिक्षक माइक बटन दबाकर हिंदी में बोलें।</a:t>
            </a:r>
            <a:endParaRPr lang="en-US" sz="1300" dirty="0"/>
          </a:p>
          <a:p>
            <a:pPr indent="0" marL="0">
              <a:lnSpc>
                <a:spcPts val="2000"/>
              </a:lnSpc>
              <a:buNone/>
            </a:pPr>
            <a:r>
              <a:rPr lang="en-US" sz="1300" dirty="0">
                <a:solidFill>
                  <a:srgbClr val="F8FAFC"/>
                </a:solidFill>
                <a:latin typeface="Arial" pitchFamily="34" charset="0"/>
                <a:ea typeface="Arial" pitchFamily="34" charset="-122"/>
                <a:cs typeface="Arial" pitchFamily="34" charset="-120"/>
              </a:rPr>
              <a:t>• वेब स्पीच रिकॉग्निशन आवाज़ को रियल-टाइम हिंदी टेक्स्ट में बदलेगा।</a:t>
            </a:r>
            <a:endParaRPr lang="en-US" sz="1300" dirty="0"/>
          </a:p>
          <a:p>
            <a:pPr indent="0" marL="0">
              <a:lnSpc>
                <a:spcPts val="2000"/>
              </a:lnSpc>
              <a:buNone/>
            </a:pPr>
            <a:r>
              <a:rPr lang="en-US" sz="1300" dirty="0">
                <a:solidFill>
                  <a:srgbClr val="F8FAFC"/>
                </a:solidFill>
                <a:latin typeface="Arial" pitchFamily="34" charset="0"/>
                <a:ea typeface="Arial" pitchFamily="34" charset="-122"/>
                <a:cs typeface="Arial" pitchFamily="34" charset="-120"/>
              </a:rPr>
              <a:t>• मूक-बधिर साथी के पढ़ने के लिए स्क्रीन पर बड़े अक्षरों में तुरंत फ्लैश होगा।</a:t>
            </a:r>
            <a:endParaRPr lang="en-US" sz="1300" dirty="0"/>
          </a:p>
        </p:txBody>
      </p:sp>
      <p:sp>
        <p:nvSpPr>
          <p:cNvPr id="17" name="Shape 15"/>
          <p:cNvSpPr/>
          <p:nvPr/>
        </p:nvSpPr>
        <p:spPr>
          <a:xfrm>
            <a:off x="6583680" y="4846320"/>
            <a:ext cx="4572000" cy="1005840"/>
          </a:xfrm>
          <a:prstGeom prst="roundRect">
            <a:avLst>
              <a:gd name="adj" fmla="val 9091"/>
            </a:avLst>
          </a:prstGeom>
          <a:solidFill>
            <a:srgbClr val="0F172A"/>
          </a:solidFill>
          <a:ln w="12700">
            <a:solidFill>
              <a:srgbClr val="334155"/>
            </a:solidFill>
            <a:prstDash val="solid"/>
          </a:ln>
        </p:spPr>
      </p:sp>
      <p:sp>
        <p:nvSpPr>
          <p:cNvPr id="18" name="Text 16"/>
          <p:cNvSpPr/>
          <p:nvPr/>
        </p:nvSpPr>
        <p:spPr>
          <a:xfrm>
            <a:off x="6720840" y="4937760"/>
            <a:ext cx="4297680" cy="822960"/>
          </a:xfrm>
          <a:prstGeom prst="rect">
            <a:avLst/>
          </a:prstGeom>
          <a:noFill/>
          <a:ln/>
        </p:spPr>
        <p:txBody>
          <a:bodyPr wrap="square" rtlCol="0" anchor="ctr"/>
          <a:lstStyle/>
          <a:p>
            <a:pPr indent="0" marL="0">
              <a:buNone/>
            </a:pPr>
            <a:r>
              <a:rPr lang="en-US" sz="1100" b="1" dirty="0">
                <a:solidFill>
                  <a:srgbClr val="38BDF8"/>
                </a:solidFill>
                <a:latin typeface="Arial" pitchFamily="34" charset="0"/>
                <a:ea typeface="Arial" pitchFamily="34" charset="-122"/>
                <a:cs typeface="Arial" pitchFamily="34" charset="-120"/>
              </a:rPr>
              <a:t>लाइव उदाहरण:</a:t>
            </a:r>
            <a:endParaRPr lang="en-US" sz="1100" dirty="0"/>
          </a:p>
          <a:p>
            <a:pPr indent="0" marL="0">
              <a:buNone/>
            </a:pPr>
            <a:r>
              <a:rPr lang="en-US" sz="1100" b="1" dirty="0">
                <a:solidFill>
                  <a:srgbClr val="38BDF8"/>
                </a:solidFill>
                <a:latin typeface="Arial" pitchFamily="34" charset="0"/>
                <a:ea typeface="Arial" pitchFamily="34" charset="-122"/>
                <a:cs typeface="Arial" pitchFamily="34" charset="-120"/>
              </a:rPr>
              <a:t>क्लर्क बोला: "काउंटर नंबर 3 पर जाएं" ➔ स्क्रीन पर बड़े बोल्ड टेक्स्ट में डिस्प्ले!</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0B981"/>
          </a:solidFill>
          <a:ln/>
        </p:spPr>
      </p:sp>
      <p:sp>
        <p:nvSpPr>
          <p:cNvPr id="3" name="Text 1"/>
          <p:cNvSpPr/>
          <p:nvPr/>
        </p:nvSpPr>
        <p:spPr>
          <a:xfrm>
            <a:off x="731520" y="411480"/>
            <a:ext cx="5486400" cy="32004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INTERACTIVE DEMONSTRATION</a:t>
            </a:r>
            <a:endParaRPr lang="en-US" sz="1000" dirty="0"/>
          </a:p>
        </p:txBody>
      </p:sp>
      <p:sp>
        <p:nvSpPr>
          <p:cNvPr id="4" name="Text 2"/>
          <p:cNvSpPr/>
          <p:nvPr/>
        </p:nvSpPr>
        <p:spPr>
          <a:xfrm>
            <a:off x="731520" y="731520"/>
            <a:ext cx="10515600" cy="594360"/>
          </a:xfrm>
          <a:prstGeom prst="rect">
            <a:avLst/>
          </a:prstGeom>
          <a:noFill/>
          <a:ln/>
        </p:spPr>
        <p:txBody>
          <a:bodyPr wrap="square" rtlCol="0" anchor="ctr"/>
          <a:lstStyle/>
          <a:p>
            <a:pPr indent="0" marL="0">
              <a:buNone/>
            </a:pPr>
            <a:r>
              <a:rPr lang="en-US" sz="2600" b="1" dirty="0">
                <a:solidFill>
                  <a:srgbClr val="F8FAFC"/>
                </a:solidFill>
                <a:latin typeface="Arial" pitchFamily="34" charset="0"/>
                <a:ea typeface="Arial" pitchFamily="34" charset="-122"/>
                <a:cs typeface="Arial" pitchFamily="34" charset="-120"/>
              </a:rPr>
              <a:t>Live Demo Choreography for the Jury</a:t>
            </a:r>
            <a:endParaRPr lang="en-US" sz="2600" dirty="0"/>
          </a:p>
        </p:txBody>
      </p:sp>
      <p:sp>
        <p:nvSpPr>
          <p:cNvPr id="5" name="Text 3"/>
          <p:cNvSpPr/>
          <p:nvPr/>
        </p:nvSpPr>
        <p:spPr>
          <a:xfrm>
            <a:off x="731520" y="1325880"/>
            <a:ext cx="10515600" cy="36576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What the judges are about to see live on screen</a:t>
            </a:r>
            <a:endParaRPr lang="en-US" sz="1300" dirty="0"/>
          </a:p>
        </p:txBody>
      </p:sp>
      <p:sp>
        <p:nvSpPr>
          <p:cNvPr id="6" name="Text 4"/>
          <p:cNvSpPr/>
          <p:nvPr/>
        </p:nvSpPr>
        <p:spPr>
          <a:xfrm>
            <a:off x="731520" y="6492240"/>
            <a:ext cx="82296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बोली-साइन (BoliSign) • Real-Time ISL to Hindi Speech • Hackathon 2026</a:t>
            </a:r>
            <a:endParaRPr lang="en-US" sz="900" dirty="0"/>
          </a:p>
        </p:txBody>
      </p:sp>
      <p:sp>
        <p:nvSpPr>
          <p:cNvPr id="7" name="Shape 5"/>
          <p:cNvSpPr/>
          <p:nvPr/>
        </p:nvSpPr>
        <p:spPr>
          <a:xfrm>
            <a:off x="731520" y="1920240"/>
            <a:ext cx="10725912" cy="749808"/>
          </a:xfrm>
          <a:prstGeom prst="roundRect">
            <a:avLst>
              <a:gd name="adj" fmla="val 12195"/>
            </a:avLst>
          </a:prstGeom>
          <a:solidFill>
            <a:srgbClr val="1C2541"/>
          </a:solidFill>
          <a:ln w="12700">
            <a:solidFill>
              <a:srgbClr val="334155"/>
            </a:solidFill>
            <a:prstDash val="solid"/>
          </a:ln>
        </p:spPr>
      </p:sp>
      <p:sp>
        <p:nvSpPr>
          <p:cNvPr id="8" name="Text 6"/>
          <p:cNvSpPr/>
          <p:nvPr/>
        </p:nvSpPr>
        <p:spPr>
          <a:xfrm>
            <a:off x="914400" y="2057400"/>
            <a:ext cx="457200" cy="457200"/>
          </a:xfrm>
          <a:prstGeom prst="rect">
            <a:avLst/>
          </a:prstGeom>
          <a:noFill/>
          <a:ln/>
        </p:spPr>
        <p:txBody>
          <a:bodyPr wrap="square" rtlCol="0" anchor="ctr"/>
          <a:lstStyle/>
          <a:p>
            <a:pPr indent="0" marL="0">
              <a:buNone/>
            </a:pPr>
            <a:r>
              <a:rPr lang="en-US" sz="1600" b="1" dirty="0">
                <a:solidFill>
                  <a:srgbClr val="38BDF8"/>
                </a:solidFill>
                <a:latin typeface="Arial" pitchFamily="34" charset="0"/>
                <a:ea typeface="Arial" pitchFamily="34" charset="-122"/>
                <a:cs typeface="Arial" pitchFamily="34" charset="-120"/>
              </a:rPr>
              <a:t>1</a:t>
            </a:r>
            <a:endParaRPr lang="en-US" sz="1600" dirty="0"/>
          </a:p>
        </p:txBody>
      </p:sp>
      <p:sp>
        <p:nvSpPr>
          <p:cNvPr id="9" name="Text 7"/>
          <p:cNvSpPr/>
          <p:nvPr/>
        </p:nvSpPr>
        <p:spPr>
          <a:xfrm>
            <a:off x="1463040" y="2057400"/>
            <a:ext cx="2560320" cy="457200"/>
          </a:xfrm>
          <a:prstGeom prst="rect">
            <a:avLst/>
          </a:prstGeom>
          <a:noFill/>
          <a:ln/>
        </p:spPr>
        <p:txBody>
          <a:bodyPr wrap="square" rtlCol="0" anchor="ctr"/>
          <a:lstStyle/>
          <a:p>
            <a:pPr indent="0" marL="0">
              <a:buNone/>
            </a:pPr>
            <a:r>
              <a:rPr lang="en-US" sz="1400" b="1" dirty="0">
                <a:solidFill>
                  <a:srgbClr val="F8FAFC"/>
                </a:solidFill>
                <a:latin typeface="Arial" pitchFamily="34" charset="0"/>
                <a:ea typeface="Arial" pitchFamily="34" charset="-122"/>
                <a:cs typeface="Arial" pitchFamily="34" charset="-120"/>
              </a:rPr>
              <a:t>✋ खुला हाथ</a:t>
            </a:r>
            <a:endParaRPr lang="en-US" sz="1400" dirty="0"/>
          </a:p>
        </p:txBody>
      </p:sp>
      <p:sp>
        <p:nvSpPr>
          <p:cNvPr id="10" name="Text 8"/>
          <p:cNvSpPr/>
          <p:nvPr/>
        </p:nvSpPr>
        <p:spPr>
          <a:xfrm>
            <a:off x="4206240" y="2057400"/>
            <a:ext cx="3200400" cy="457200"/>
          </a:xfrm>
          <a:prstGeom prst="rect">
            <a:avLst/>
          </a:prstGeom>
          <a:noFill/>
          <a:ln/>
        </p:spPr>
        <p:txBody>
          <a:bodyPr wrap="square" rtlCol="0" anchor="ctr"/>
          <a:lstStyle/>
          <a:p>
            <a:pPr indent="0" marL="0">
              <a:buNone/>
            </a:pPr>
            <a:r>
              <a:rPr lang="en-US" sz="1400" b="1" dirty="0">
                <a:solidFill>
                  <a:srgbClr val="38BDF8"/>
                </a:solidFill>
                <a:latin typeface="Arial" pitchFamily="34" charset="0"/>
                <a:ea typeface="Arial" pitchFamily="34" charset="-122"/>
                <a:cs typeface="Arial" pitchFamily="34" charset="-120"/>
              </a:rPr>
              <a:t>नमस्ते (Greetings)</a:t>
            </a:r>
            <a:endParaRPr lang="en-US" sz="1400" dirty="0"/>
          </a:p>
        </p:txBody>
      </p:sp>
      <p:sp>
        <p:nvSpPr>
          <p:cNvPr id="11" name="Text 9"/>
          <p:cNvSpPr/>
          <p:nvPr/>
        </p:nvSpPr>
        <p:spPr>
          <a:xfrm>
            <a:off x="7498080" y="2084832"/>
            <a:ext cx="3749040" cy="41148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दैनिक अभिवादन, स्क्रीन पर टोकन जुड़ता है</a:t>
            </a:r>
            <a:endParaRPr lang="en-US" sz="1100" dirty="0"/>
          </a:p>
        </p:txBody>
      </p:sp>
      <p:sp>
        <p:nvSpPr>
          <p:cNvPr id="12" name="Shape 10"/>
          <p:cNvSpPr/>
          <p:nvPr/>
        </p:nvSpPr>
        <p:spPr>
          <a:xfrm>
            <a:off x="731520" y="2788920"/>
            <a:ext cx="10725912" cy="749808"/>
          </a:xfrm>
          <a:prstGeom prst="roundRect">
            <a:avLst>
              <a:gd name="adj" fmla="val 12195"/>
            </a:avLst>
          </a:prstGeom>
          <a:solidFill>
            <a:srgbClr val="1C2541"/>
          </a:solidFill>
          <a:ln w="12700">
            <a:solidFill>
              <a:srgbClr val="334155"/>
            </a:solidFill>
            <a:prstDash val="solid"/>
          </a:ln>
        </p:spPr>
      </p:sp>
      <p:sp>
        <p:nvSpPr>
          <p:cNvPr id="13" name="Text 11"/>
          <p:cNvSpPr/>
          <p:nvPr/>
        </p:nvSpPr>
        <p:spPr>
          <a:xfrm>
            <a:off x="914400" y="2926080"/>
            <a:ext cx="457200" cy="457200"/>
          </a:xfrm>
          <a:prstGeom prst="rect">
            <a:avLst/>
          </a:prstGeom>
          <a:noFill/>
          <a:ln/>
        </p:spPr>
        <p:txBody>
          <a:bodyPr wrap="square" rtlCol="0" anchor="ctr"/>
          <a:lstStyle/>
          <a:p>
            <a:pPr indent="0" marL="0">
              <a:buNone/>
            </a:pPr>
            <a:r>
              <a:rPr lang="en-US" sz="1600" b="1" dirty="0">
                <a:solidFill>
                  <a:srgbClr val="38BDF8"/>
                </a:solidFill>
                <a:latin typeface="Arial" pitchFamily="34" charset="0"/>
                <a:ea typeface="Arial" pitchFamily="34" charset="-122"/>
                <a:cs typeface="Arial" pitchFamily="34" charset="-120"/>
              </a:rPr>
              <a:t>2</a:t>
            </a:r>
            <a:endParaRPr lang="en-US" sz="1600" dirty="0"/>
          </a:p>
        </p:txBody>
      </p:sp>
      <p:sp>
        <p:nvSpPr>
          <p:cNvPr id="14" name="Text 12"/>
          <p:cNvSpPr/>
          <p:nvPr/>
        </p:nvSpPr>
        <p:spPr>
          <a:xfrm>
            <a:off x="1463040" y="2926080"/>
            <a:ext cx="2560320" cy="457200"/>
          </a:xfrm>
          <a:prstGeom prst="rect">
            <a:avLst/>
          </a:prstGeom>
          <a:noFill/>
          <a:ln/>
        </p:spPr>
        <p:txBody>
          <a:bodyPr wrap="square" rtlCol="0" anchor="ctr"/>
          <a:lstStyle/>
          <a:p>
            <a:pPr indent="0" marL="0">
              <a:buNone/>
            </a:pPr>
            <a:r>
              <a:rPr lang="en-US" sz="1400" b="1" dirty="0">
                <a:solidFill>
                  <a:srgbClr val="F8FAFC"/>
                </a:solidFill>
                <a:latin typeface="Arial" pitchFamily="34" charset="0"/>
                <a:ea typeface="Arial" pitchFamily="34" charset="-122"/>
                <a:cs typeface="Arial" pitchFamily="34" charset="-120"/>
              </a:rPr>
              <a:t>✌️ ठोड़ी पर V-Sign</a:t>
            </a:r>
            <a:endParaRPr lang="en-US" sz="1400" dirty="0"/>
          </a:p>
        </p:txBody>
      </p:sp>
      <p:sp>
        <p:nvSpPr>
          <p:cNvPr id="15" name="Text 13"/>
          <p:cNvSpPr/>
          <p:nvPr/>
        </p:nvSpPr>
        <p:spPr>
          <a:xfrm>
            <a:off x="4206240" y="2926080"/>
            <a:ext cx="3200400" cy="457200"/>
          </a:xfrm>
          <a:prstGeom prst="rect">
            <a:avLst/>
          </a:prstGeom>
          <a:noFill/>
          <a:ln/>
        </p:spPr>
        <p:txBody>
          <a:bodyPr wrap="square" rtlCol="0" anchor="ctr"/>
          <a:lstStyle/>
          <a:p>
            <a:pPr indent="0" marL="0">
              <a:buNone/>
            </a:pPr>
            <a:r>
              <a:rPr lang="en-US" sz="1400" b="1" dirty="0">
                <a:solidFill>
                  <a:srgbClr val="38BDF8"/>
                </a:solidFill>
                <a:latin typeface="Arial" pitchFamily="34" charset="0"/>
                <a:ea typeface="Arial" pitchFamily="34" charset="-122"/>
                <a:cs typeface="Arial" pitchFamily="34" charset="-120"/>
              </a:rPr>
              <a:t>लाइब्रेरी (College)</a:t>
            </a:r>
            <a:endParaRPr lang="en-US" sz="1400" dirty="0"/>
          </a:p>
        </p:txBody>
      </p:sp>
      <p:sp>
        <p:nvSpPr>
          <p:cNvPr id="16" name="Text 14"/>
          <p:cNvSpPr/>
          <p:nvPr/>
        </p:nvSpPr>
        <p:spPr>
          <a:xfrm>
            <a:off x="7498080" y="2953512"/>
            <a:ext cx="3749040" cy="41148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संस्थान के विशिष्ट डिपार्टमेंटल साइन्स</a:t>
            </a:r>
            <a:endParaRPr lang="en-US" sz="1100" dirty="0"/>
          </a:p>
        </p:txBody>
      </p:sp>
      <p:sp>
        <p:nvSpPr>
          <p:cNvPr id="17" name="Shape 15"/>
          <p:cNvSpPr/>
          <p:nvPr/>
        </p:nvSpPr>
        <p:spPr>
          <a:xfrm>
            <a:off x="731520" y="3657600"/>
            <a:ext cx="10725912" cy="749808"/>
          </a:xfrm>
          <a:prstGeom prst="roundRect">
            <a:avLst>
              <a:gd name="adj" fmla="val 12195"/>
            </a:avLst>
          </a:prstGeom>
          <a:solidFill>
            <a:srgbClr val="1C2541"/>
          </a:solidFill>
          <a:ln w="12700">
            <a:solidFill>
              <a:srgbClr val="334155"/>
            </a:solidFill>
            <a:prstDash val="solid"/>
          </a:ln>
        </p:spPr>
      </p:sp>
      <p:sp>
        <p:nvSpPr>
          <p:cNvPr id="18" name="Text 16"/>
          <p:cNvSpPr/>
          <p:nvPr/>
        </p:nvSpPr>
        <p:spPr>
          <a:xfrm>
            <a:off x="914400" y="3794760"/>
            <a:ext cx="457200" cy="457200"/>
          </a:xfrm>
          <a:prstGeom prst="rect">
            <a:avLst/>
          </a:prstGeom>
          <a:noFill/>
          <a:ln/>
        </p:spPr>
        <p:txBody>
          <a:bodyPr wrap="square" rtlCol="0" anchor="ctr"/>
          <a:lstStyle/>
          <a:p>
            <a:pPr indent="0" marL="0">
              <a:buNone/>
            </a:pPr>
            <a:r>
              <a:rPr lang="en-US" sz="1600" b="1" dirty="0">
                <a:solidFill>
                  <a:srgbClr val="38BDF8"/>
                </a:solidFill>
                <a:latin typeface="Arial" pitchFamily="34" charset="0"/>
                <a:ea typeface="Arial" pitchFamily="34" charset="-122"/>
                <a:cs typeface="Arial" pitchFamily="34" charset="-120"/>
              </a:rPr>
              <a:t>3</a:t>
            </a:r>
            <a:endParaRPr lang="en-US" sz="1600" dirty="0"/>
          </a:p>
        </p:txBody>
      </p:sp>
      <p:sp>
        <p:nvSpPr>
          <p:cNvPr id="19" name="Text 17"/>
          <p:cNvSpPr/>
          <p:nvPr/>
        </p:nvSpPr>
        <p:spPr>
          <a:xfrm>
            <a:off x="1463040" y="3794760"/>
            <a:ext cx="2560320" cy="457200"/>
          </a:xfrm>
          <a:prstGeom prst="rect">
            <a:avLst/>
          </a:prstGeom>
          <a:noFill/>
          <a:ln/>
        </p:spPr>
        <p:txBody>
          <a:bodyPr wrap="square" rtlCol="0" anchor="ctr"/>
          <a:lstStyle/>
          <a:p>
            <a:pPr indent="0" marL="0">
              <a:buNone/>
            </a:pPr>
            <a:r>
              <a:rPr lang="en-US" sz="1400" b="1" dirty="0">
                <a:solidFill>
                  <a:srgbClr val="F8FAFC"/>
                </a:solidFill>
                <a:latin typeface="Arial" pitchFamily="34" charset="0"/>
                <a:ea typeface="Arial" pitchFamily="34" charset="-122"/>
                <a:cs typeface="Arial" pitchFamily="34" charset="-120"/>
              </a:rPr>
              <a:t>👤 माथा / गाल</a:t>
            </a:r>
            <a:endParaRPr lang="en-US" sz="1400" dirty="0"/>
          </a:p>
        </p:txBody>
      </p:sp>
      <p:sp>
        <p:nvSpPr>
          <p:cNvPr id="20" name="Text 18"/>
          <p:cNvSpPr/>
          <p:nvPr/>
        </p:nvSpPr>
        <p:spPr>
          <a:xfrm>
            <a:off x="4206240" y="3794760"/>
            <a:ext cx="3200400" cy="457200"/>
          </a:xfrm>
          <a:prstGeom prst="rect">
            <a:avLst/>
          </a:prstGeom>
          <a:noFill/>
          <a:ln/>
        </p:spPr>
        <p:txBody>
          <a:bodyPr wrap="square" rtlCol="0" anchor="ctr"/>
          <a:lstStyle/>
          <a:p>
            <a:pPr indent="0" marL="0">
              <a:buNone/>
            </a:pPr>
            <a:r>
              <a:rPr lang="en-US" sz="1400" b="1" dirty="0">
                <a:solidFill>
                  <a:srgbClr val="38BDF8"/>
                </a:solidFill>
                <a:latin typeface="Arial" pitchFamily="34" charset="0"/>
                <a:ea typeface="Arial" pitchFamily="34" charset="-122"/>
                <a:cs typeface="Arial" pitchFamily="34" charset="-120"/>
              </a:rPr>
              <a:t>चाचा / दादी</a:t>
            </a:r>
            <a:endParaRPr lang="en-US" sz="1400" dirty="0"/>
          </a:p>
        </p:txBody>
      </p:sp>
      <p:sp>
        <p:nvSpPr>
          <p:cNvPr id="21" name="Text 19"/>
          <p:cNvSpPr/>
          <p:nvPr/>
        </p:nvSpPr>
        <p:spPr>
          <a:xfrm>
            <a:off x="7498080" y="3822192"/>
            <a:ext cx="3749040" cy="41148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स्थान बदलते ही रिश्ते का अर्थ बदल जाता है</a:t>
            </a:r>
            <a:endParaRPr lang="en-US" sz="1100" dirty="0"/>
          </a:p>
        </p:txBody>
      </p:sp>
      <p:sp>
        <p:nvSpPr>
          <p:cNvPr id="22" name="Shape 20"/>
          <p:cNvSpPr/>
          <p:nvPr/>
        </p:nvSpPr>
        <p:spPr>
          <a:xfrm>
            <a:off x="731520" y="4526280"/>
            <a:ext cx="10725912" cy="749808"/>
          </a:xfrm>
          <a:prstGeom prst="roundRect">
            <a:avLst>
              <a:gd name="adj" fmla="val 12195"/>
            </a:avLst>
          </a:prstGeom>
          <a:solidFill>
            <a:srgbClr val="1C2541"/>
          </a:solidFill>
          <a:ln w="12700">
            <a:solidFill>
              <a:srgbClr val="334155"/>
            </a:solidFill>
            <a:prstDash val="solid"/>
          </a:ln>
        </p:spPr>
      </p:sp>
      <p:sp>
        <p:nvSpPr>
          <p:cNvPr id="23" name="Text 21"/>
          <p:cNvSpPr/>
          <p:nvPr/>
        </p:nvSpPr>
        <p:spPr>
          <a:xfrm>
            <a:off x="914400" y="4663440"/>
            <a:ext cx="457200" cy="457200"/>
          </a:xfrm>
          <a:prstGeom prst="rect">
            <a:avLst/>
          </a:prstGeom>
          <a:noFill/>
          <a:ln/>
        </p:spPr>
        <p:txBody>
          <a:bodyPr wrap="square" rtlCol="0" anchor="ctr"/>
          <a:lstStyle/>
          <a:p>
            <a:pPr indent="0" marL="0">
              <a:buNone/>
            </a:pPr>
            <a:r>
              <a:rPr lang="en-US" sz="1600" b="1" dirty="0">
                <a:solidFill>
                  <a:srgbClr val="38BDF8"/>
                </a:solidFill>
                <a:latin typeface="Arial" pitchFamily="34" charset="0"/>
                <a:ea typeface="Arial" pitchFamily="34" charset="-122"/>
                <a:cs typeface="Arial" pitchFamily="34" charset="-120"/>
              </a:rPr>
              <a:t>4</a:t>
            </a:r>
            <a:endParaRPr lang="en-US" sz="1600" dirty="0"/>
          </a:p>
        </p:txBody>
      </p:sp>
      <p:sp>
        <p:nvSpPr>
          <p:cNvPr id="24" name="Text 22"/>
          <p:cNvSpPr/>
          <p:nvPr/>
        </p:nvSpPr>
        <p:spPr>
          <a:xfrm>
            <a:off x="1463040" y="4663440"/>
            <a:ext cx="2560320" cy="457200"/>
          </a:xfrm>
          <a:prstGeom prst="rect">
            <a:avLst/>
          </a:prstGeom>
          <a:noFill/>
          <a:ln/>
        </p:spPr>
        <p:txBody>
          <a:bodyPr wrap="square" rtlCol="0" anchor="ctr"/>
          <a:lstStyle/>
          <a:p>
            <a:pPr indent="0" marL="0">
              <a:buNone/>
            </a:pPr>
            <a:r>
              <a:rPr lang="en-US" sz="1400" b="1" dirty="0">
                <a:solidFill>
                  <a:srgbClr val="F8FAFC"/>
                </a:solidFill>
                <a:latin typeface="Arial" pitchFamily="34" charset="0"/>
                <a:ea typeface="Arial" pitchFamily="34" charset="-122"/>
                <a:cs typeface="Arial" pitchFamily="34" charset="-120"/>
              </a:rPr>
              <a:t>🤙 शका पोज़</a:t>
            </a:r>
            <a:endParaRPr lang="en-US" sz="1400" dirty="0"/>
          </a:p>
        </p:txBody>
      </p:sp>
      <p:sp>
        <p:nvSpPr>
          <p:cNvPr id="25" name="Text 23"/>
          <p:cNvSpPr/>
          <p:nvPr/>
        </p:nvSpPr>
        <p:spPr>
          <a:xfrm>
            <a:off x="4206240" y="4663440"/>
            <a:ext cx="3200400" cy="457200"/>
          </a:xfrm>
          <a:prstGeom prst="rect">
            <a:avLst/>
          </a:prstGeom>
          <a:noFill/>
          <a:ln/>
        </p:spPr>
        <p:txBody>
          <a:bodyPr wrap="square" rtlCol="0" anchor="ctr"/>
          <a:lstStyle/>
          <a:p>
            <a:pPr indent="0" marL="0">
              <a:buNone/>
            </a:pPr>
            <a:r>
              <a:rPr lang="en-US" sz="1400" b="1" dirty="0">
                <a:solidFill>
                  <a:srgbClr val="38BDF8"/>
                </a:solidFill>
                <a:latin typeface="Arial" pitchFamily="34" charset="0"/>
                <a:ea typeface="Arial" pitchFamily="34" charset="-122"/>
                <a:cs typeface="Arial" pitchFamily="34" charset="-120"/>
              </a:rPr>
              <a:t>मदद चाहिए (SOS)</a:t>
            </a:r>
            <a:endParaRPr lang="en-US" sz="1400" dirty="0"/>
          </a:p>
        </p:txBody>
      </p:sp>
      <p:sp>
        <p:nvSpPr>
          <p:cNvPr id="26" name="Text 24"/>
          <p:cNvSpPr/>
          <p:nvPr/>
        </p:nvSpPr>
        <p:spPr>
          <a:xfrm>
            <a:off x="7498080" y="4690872"/>
            <a:ext cx="3749040" cy="41148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आपातकालीन उच्च प्राथमिकता अलार्म</a:t>
            </a:r>
            <a:endParaRPr lang="en-US" sz="1100" dirty="0"/>
          </a:p>
        </p:txBody>
      </p:sp>
      <p:sp>
        <p:nvSpPr>
          <p:cNvPr id="27" name="Shape 25"/>
          <p:cNvSpPr/>
          <p:nvPr/>
        </p:nvSpPr>
        <p:spPr>
          <a:xfrm>
            <a:off x="731520" y="5394960"/>
            <a:ext cx="10725912" cy="749808"/>
          </a:xfrm>
          <a:prstGeom prst="roundRect">
            <a:avLst>
              <a:gd name="adj" fmla="val 12195"/>
            </a:avLst>
          </a:prstGeom>
          <a:solidFill>
            <a:srgbClr val="1C2541"/>
          </a:solidFill>
          <a:ln w="25400">
            <a:solidFill>
              <a:srgbClr val="10B981"/>
            </a:solidFill>
            <a:prstDash val="solid"/>
          </a:ln>
        </p:spPr>
      </p:sp>
      <p:sp>
        <p:nvSpPr>
          <p:cNvPr id="28" name="Text 26"/>
          <p:cNvSpPr/>
          <p:nvPr/>
        </p:nvSpPr>
        <p:spPr>
          <a:xfrm>
            <a:off x="914400" y="5532120"/>
            <a:ext cx="457200" cy="457200"/>
          </a:xfrm>
          <a:prstGeom prst="rect">
            <a:avLst/>
          </a:prstGeom>
          <a:noFill/>
          <a:ln/>
        </p:spPr>
        <p:txBody>
          <a:bodyPr wrap="square" rtlCol="0" anchor="ctr"/>
          <a:lstStyle/>
          <a:p>
            <a:pPr indent="0" marL="0">
              <a:buNone/>
            </a:pPr>
            <a:r>
              <a:rPr lang="en-US" sz="1600" b="1" dirty="0">
                <a:solidFill>
                  <a:srgbClr val="38BDF8"/>
                </a:solidFill>
                <a:latin typeface="Arial" pitchFamily="34" charset="0"/>
                <a:ea typeface="Arial" pitchFamily="34" charset="-122"/>
                <a:cs typeface="Arial" pitchFamily="34" charset="-120"/>
              </a:rPr>
              <a:t>5</a:t>
            </a:r>
            <a:endParaRPr lang="en-US" sz="1600" dirty="0"/>
          </a:p>
        </p:txBody>
      </p:sp>
      <p:sp>
        <p:nvSpPr>
          <p:cNvPr id="29" name="Text 27"/>
          <p:cNvSpPr/>
          <p:nvPr/>
        </p:nvSpPr>
        <p:spPr>
          <a:xfrm>
            <a:off x="1463040" y="5532120"/>
            <a:ext cx="2560320" cy="457200"/>
          </a:xfrm>
          <a:prstGeom prst="rect">
            <a:avLst/>
          </a:prstGeom>
          <a:noFill/>
          <a:ln/>
        </p:spPr>
        <p:txBody>
          <a:bodyPr wrap="square" rtlCol="0" anchor="ctr"/>
          <a:lstStyle/>
          <a:p>
            <a:pPr indent="0" marL="0">
              <a:buNone/>
            </a:pPr>
            <a:r>
              <a:rPr lang="en-US" sz="1400" b="1" dirty="0">
                <a:solidFill>
                  <a:srgbClr val="F8FAFC"/>
                </a:solidFill>
                <a:latin typeface="Arial" pitchFamily="34" charset="0"/>
                <a:ea typeface="Arial" pitchFamily="34" charset="-122"/>
                <a:cs typeface="Arial" pitchFamily="34" charset="-120"/>
              </a:rPr>
              <a:t>⚡ 1-Click AI</a:t>
            </a:r>
            <a:endParaRPr lang="en-US" sz="1400" dirty="0"/>
          </a:p>
        </p:txBody>
      </p:sp>
      <p:sp>
        <p:nvSpPr>
          <p:cNvPr id="30" name="Text 28"/>
          <p:cNvSpPr/>
          <p:nvPr/>
        </p:nvSpPr>
        <p:spPr>
          <a:xfrm>
            <a:off x="4206240" y="5532120"/>
            <a:ext cx="3200400" cy="457200"/>
          </a:xfrm>
          <a:prstGeom prst="rect">
            <a:avLst/>
          </a:prstGeom>
          <a:noFill/>
          <a:ln/>
        </p:spPr>
        <p:txBody>
          <a:bodyPr wrap="square" rtlCol="0" anchor="ctr"/>
          <a:lstStyle/>
          <a:p>
            <a:pPr indent="0" marL="0">
              <a:buNone/>
            </a:pPr>
            <a:r>
              <a:rPr lang="en-US" sz="1400" b="1" dirty="0">
                <a:solidFill>
                  <a:srgbClr val="10B981"/>
                </a:solidFill>
                <a:latin typeface="Arial" pitchFamily="34" charset="0"/>
                <a:ea typeface="Arial" pitchFamily="34" charset="-122"/>
                <a:cs typeface="Arial" pitchFamily="34" charset="-120"/>
              </a:rPr>
              <a:t>प्राकृतिक हिंदी वाक्य</a:t>
            </a:r>
            <a:endParaRPr lang="en-US" sz="1400" dirty="0"/>
          </a:p>
        </p:txBody>
      </p:sp>
      <p:sp>
        <p:nvSpPr>
          <p:cNvPr id="31" name="Text 29"/>
          <p:cNvSpPr/>
          <p:nvPr/>
        </p:nvSpPr>
        <p:spPr>
          <a:xfrm>
            <a:off x="7498080" y="5559552"/>
            <a:ext cx="3749040" cy="411480"/>
          </a:xfrm>
          <a:prstGeom prst="rect">
            <a:avLst/>
          </a:prstGeom>
          <a:noFill/>
          <a:ln/>
        </p:spPr>
        <p:txBody>
          <a:bodyPr wrap="square" rtlCol="0" anchor="ctr"/>
          <a:lstStyle/>
          <a:p>
            <a:pPr indent="0" marL="0">
              <a:buNone/>
            </a:pPr>
            <a:r>
              <a:rPr lang="en-US" sz="1100" dirty="0">
                <a:solidFill>
                  <a:srgbClr val="94A3B8"/>
                </a:solidFill>
                <a:latin typeface="Arial" pitchFamily="34" charset="0"/>
                <a:ea typeface="Arial" pitchFamily="34" charset="-122"/>
                <a:cs typeface="Arial" pitchFamily="34" charset="-120"/>
              </a:rPr>
              <a:t>AI वाक्य निर्माण: "नमस्ते चाचा जी, लाइब्रेरी जाना है"</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0B981"/>
          </a:solidFill>
          <a:ln/>
        </p:spPr>
      </p:sp>
      <p:sp>
        <p:nvSpPr>
          <p:cNvPr id="3" name="Text 1"/>
          <p:cNvSpPr/>
          <p:nvPr/>
        </p:nvSpPr>
        <p:spPr>
          <a:xfrm>
            <a:off x="731520" y="411480"/>
            <a:ext cx="5486400" cy="32004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DEPLOYMENT &amp; IMPACT</a:t>
            </a:r>
            <a:endParaRPr lang="en-US" sz="1000" dirty="0"/>
          </a:p>
        </p:txBody>
      </p:sp>
      <p:sp>
        <p:nvSpPr>
          <p:cNvPr id="4" name="Text 2"/>
          <p:cNvSpPr/>
          <p:nvPr/>
        </p:nvSpPr>
        <p:spPr>
          <a:xfrm>
            <a:off x="731520" y="731520"/>
            <a:ext cx="10515600" cy="594360"/>
          </a:xfrm>
          <a:prstGeom prst="rect">
            <a:avLst/>
          </a:prstGeom>
          <a:noFill/>
          <a:ln/>
        </p:spPr>
        <p:txBody>
          <a:bodyPr wrap="square" rtlCol="0" anchor="ctr"/>
          <a:lstStyle/>
          <a:p>
            <a:pPr indent="0" marL="0">
              <a:buNone/>
            </a:pPr>
            <a:r>
              <a:rPr lang="en-US" sz="2600" b="1" dirty="0">
                <a:solidFill>
                  <a:srgbClr val="F8FAFC"/>
                </a:solidFill>
                <a:latin typeface="Arial" pitchFamily="34" charset="0"/>
                <a:ea typeface="Arial" pitchFamily="34" charset="-122"/>
                <a:cs typeface="Arial" pitchFamily="34" charset="-120"/>
              </a:rPr>
              <a:t>Scalability, B2G/B2B Model &amp; National Impact</a:t>
            </a:r>
            <a:endParaRPr lang="en-US" sz="2600" dirty="0"/>
          </a:p>
        </p:txBody>
      </p:sp>
      <p:sp>
        <p:nvSpPr>
          <p:cNvPr id="5" name="Text 3"/>
          <p:cNvSpPr/>
          <p:nvPr/>
        </p:nvSpPr>
        <p:spPr>
          <a:xfrm>
            <a:off x="731520" y="1325880"/>
            <a:ext cx="10515600" cy="36576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Aligned with Digital India &amp; Accessible India (सुगम्य भारत अभियान)</a:t>
            </a:r>
            <a:endParaRPr lang="en-US" sz="1300" dirty="0"/>
          </a:p>
        </p:txBody>
      </p:sp>
      <p:sp>
        <p:nvSpPr>
          <p:cNvPr id="6" name="Text 4"/>
          <p:cNvSpPr/>
          <p:nvPr/>
        </p:nvSpPr>
        <p:spPr>
          <a:xfrm>
            <a:off x="731520" y="6492240"/>
            <a:ext cx="82296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बोली-साइन (BoliSign) • Real-Time ISL to Hindi Speech • Hackathon 2026</a:t>
            </a:r>
            <a:endParaRPr lang="en-US" sz="900" dirty="0"/>
          </a:p>
        </p:txBody>
      </p:sp>
      <p:sp>
        <p:nvSpPr>
          <p:cNvPr id="7" name="Shape 5"/>
          <p:cNvSpPr/>
          <p:nvPr/>
        </p:nvSpPr>
        <p:spPr>
          <a:xfrm>
            <a:off x="731520" y="1920240"/>
            <a:ext cx="10725912" cy="1234440"/>
          </a:xfrm>
          <a:prstGeom prst="roundRect">
            <a:avLst>
              <a:gd name="adj" fmla="val 11111"/>
            </a:avLst>
          </a:prstGeom>
          <a:solidFill>
            <a:srgbClr val="1C2541"/>
          </a:solidFill>
          <a:ln w="19050">
            <a:solidFill>
              <a:srgbClr val="38BDF8"/>
            </a:solidFill>
            <a:prstDash val="solid"/>
          </a:ln>
        </p:spPr>
      </p:sp>
      <p:sp>
        <p:nvSpPr>
          <p:cNvPr id="8" name="Text 6"/>
          <p:cNvSpPr/>
          <p:nvPr/>
        </p:nvSpPr>
        <p:spPr>
          <a:xfrm>
            <a:off x="1005840" y="2084832"/>
            <a:ext cx="10058400" cy="365760"/>
          </a:xfrm>
          <a:prstGeom prst="rect">
            <a:avLst/>
          </a:prstGeom>
          <a:noFill/>
          <a:ln/>
        </p:spPr>
        <p:txBody>
          <a:bodyPr wrap="square" rtlCol="0" anchor="ctr"/>
          <a:lstStyle/>
          <a:p>
            <a:pPr indent="0" marL="0">
              <a:buNone/>
            </a:pPr>
            <a:r>
              <a:rPr lang="en-US" sz="1600" b="1" dirty="0">
                <a:solidFill>
                  <a:srgbClr val="38BDF8"/>
                </a:solidFill>
                <a:latin typeface="Arial" pitchFamily="34" charset="0"/>
                <a:ea typeface="Arial" pitchFamily="34" charset="-122"/>
                <a:cs typeface="Arial" pitchFamily="34" charset="-120"/>
              </a:rPr>
              <a:t>🎓 500+ भारतीय विश्वविद्यालय व कॉलेज</a:t>
            </a:r>
            <a:endParaRPr lang="en-US" sz="1600" dirty="0"/>
          </a:p>
        </p:txBody>
      </p:sp>
      <p:sp>
        <p:nvSpPr>
          <p:cNvPr id="9" name="Text 7"/>
          <p:cNvSpPr/>
          <p:nvPr/>
        </p:nvSpPr>
        <p:spPr>
          <a:xfrm>
            <a:off x="1005840" y="2468880"/>
            <a:ext cx="10058400" cy="594360"/>
          </a:xfrm>
          <a:prstGeom prst="rect">
            <a:avLst/>
          </a:prstGeom>
          <a:noFill/>
          <a:ln/>
        </p:spPr>
        <p:txBody>
          <a:bodyPr wrap="square" rtlCol="0" anchor="ctr"/>
          <a:lstStyle/>
          <a:p>
            <a:pPr indent="0" marL="0">
              <a:lnSpc>
                <a:spcPts val="1600"/>
              </a:lnSpc>
              <a:buNone/>
            </a:pPr>
            <a:r>
              <a:rPr lang="en-US" sz="1200" dirty="0">
                <a:solidFill>
                  <a:srgbClr val="F8FAFC"/>
                </a:solidFill>
                <a:latin typeface="Arial" pitchFamily="34" charset="0"/>
                <a:ea typeface="Arial" pitchFamily="34" charset="-122"/>
                <a:cs typeface="Arial" pitchFamily="34" charset="-120"/>
              </a:rPr>
              <a:t>एडमिन ऑफिस, प्रवेश खिड़की, हॉस्टल और लाइब्रेरी कियोस्क पर तत्काल लागू। दिव्यांग छात्रों को बिना किसी सहायक के आत्मनिर्भर बनाता है।</a:t>
            </a:r>
            <a:endParaRPr lang="en-US" sz="1200" dirty="0"/>
          </a:p>
        </p:txBody>
      </p:sp>
      <p:sp>
        <p:nvSpPr>
          <p:cNvPr id="10" name="Shape 8"/>
          <p:cNvSpPr/>
          <p:nvPr/>
        </p:nvSpPr>
        <p:spPr>
          <a:xfrm>
            <a:off x="731520" y="3337560"/>
            <a:ext cx="10725912" cy="1234440"/>
          </a:xfrm>
          <a:prstGeom prst="roundRect">
            <a:avLst>
              <a:gd name="adj" fmla="val 11111"/>
            </a:avLst>
          </a:prstGeom>
          <a:solidFill>
            <a:srgbClr val="1C2541"/>
          </a:solidFill>
          <a:ln w="19050">
            <a:solidFill>
              <a:srgbClr val="10B981"/>
            </a:solidFill>
            <a:prstDash val="solid"/>
          </a:ln>
        </p:spPr>
      </p:sp>
      <p:sp>
        <p:nvSpPr>
          <p:cNvPr id="11" name="Text 9"/>
          <p:cNvSpPr/>
          <p:nvPr/>
        </p:nvSpPr>
        <p:spPr>
          <a:xfrm>
            <a:off x="1005840" y="3502152"/>
            <a:ext cx="10058400" cy="365760"/>
          </a:xfrm>
          <a:prstGeom prst="rect">
            <a:avLst/>
          </a:prstGeom>
          <a:noFill/>
          <a:ln/>
        </p:spPr>
        <p:txBody>
          <a:bodyPr wrap="square" rtlCol="0" anchor="ctr"/>
          <a:lstStyle/>
          <a:p>
            <a:pPr indent="0" marL="0">
              <a:buNone/>
            </a:pPr>
            <a:r>
              <a:rPr lang="en-US" sz="1600" b="1" dirty="0">
                <a:solidFill>
                  <a:srgbClr val="10B981"/>
                </a:solidFill>
                <a:latin typeface="Arial" pitchFamily="34" charset="0"/>
                <a:ea typeface="Arial" pitchFamily="34" charset="-122"/>
                <a:cs typeface="Arial" pitchFamily="34" charset="-120"/>
              </a:rPr>
              <a:t>🏥 अस्पताल व स्वास्थ्य केंद्र (Hospitals &amp; SOS)</a:t>
            </a:r>
            <a:endParaRPr lang="en-US" sz="1600" dirty="0"/>
          </a:p>
        </p:txBody>
      </p:sp>
      <p:sp>
        <p:nvSpPr>
          <p:cNvPr id="12" name="Text 10"/>
          <p:cNvSpPr/>
          <p:nvPr/>
        </p:nvSpPr>
        <p:spPr>
          <a:xfrm>
            <a:off x="1005840" y="3886200"/>
            <a:ext cx="10058400" cy="594360"/>
          </a:xfrm>
          <a:prstGeom prst="rect">
            <a:avLst/>
          </a:prstGeom>
          <a:noFill/>
          <a:ln/>
        </p:spPr>
        <p:txBody>
          <a:bodyPr wrap="square" rtlCol="0" anchor="ctr"/>
          <a:lstStyle/>
          <a:p>
            <a:pPr indent="0" marL="0">
              <a:lnSpc>
                <a:spcPts val="1600"/>
              </a:lnSpc>
              <a:buNone/>
            </a:pPr>
            <a:r>
              <a:rPr lang="en-US" sz="1200" dirty="0">
                <a:solidFill>
                  <a:srgbClr val="F8FAFC"/>
                </a:solidFill>
                <a:latin typeface="Arial" pitchFamily="34" charset="0"/>
                <a:ea typeface="Arial" pitchFamily="34" charset="-122"/>
                <a:cs typeface="Arial" pitchFamily="34" charset="-120"/>
              </a:rPr>
              <a:t>आपातकालीन वार्ड और रिसेप्शन पर मरीज का इशारा देखते ही लाउडस्पीकर पर हिंदी ऑडियो व ऑन-स्क्रीन अलर्ट ट्रिगर करता है।</a:t>
            </a:r>
            <a:endParaRPr lang="en-US" sz="1200" dirty="0"/>
          </a:p>
        </p:txBody>
      </p:sp>
      <p:sp>
        <p:nvSpPr>
          <p:cNvPr id="13" name="Shape 11"/>
          <p:cNvSpPr/>
          <p:nvPr/>
        </p:nvSpPr>
        <p:spPr>
          <a:xfrm>
            <a:off x="731520" y="4754880"/>
            <a:ext cx="10725912" cy="1234440"/>
          </a:xfrm>
          <a:prstGeom prst="roundRect">
            <a:avLst>
              <a:gd name="adj" fmla="val 11111"/>
            </a:avLst>
          </a:prstGeom>
          <a:solidFill>
            <a:srgbClr val="1C2541"/>
          </a:solidFill>
          <a:ln w="19050">
            <a:solidFill>
              <a:srgbClr val="A855F7"/>
            </a:solidFill>
            <a:prstDash val="solid"/>
          </a:ln>
        </p:spPr>
      </p:sp>
      <p:sp>
        <p:nvSpPr>
          <p:cNvPr id="14" name="Text 12"/>
          <p:cNvSpPr/>
          <p:nvPr/>
        </p:nvSpPr>
        <p:spPr>
          <a:xfrm>
            <a:off x="1005840" y="4919472"/>
            <a:ext cx="10058400" cy="365760"/>
          </a:xfrm>
          <a:prstGeom prst="rect">
            <a:avLst/>
          </a:prstGeom>
          <a:noFill/>
          <a:ln/>
        </p:spPr>
        <p:txBody>
          <a:bodyPr wrap="square" rtlCol="0" anchor="ctr"/>
          <a:lstStyle/>
          <a:p>
            <a:pPr indent="0" marL="0">
              <a:buNone/>
            </a:pPr>
            <a:r>
              <a:rPr lang="en-US" sz="1600" b="1" dirty="0">
                <a:solidFill>
                  <a:srgbClr val="A855F7"/>
                </a:solidFill>
                <a:latin typeface="Arial" pitchFamily="34" charset="0"/>
                <a:ea typeface="Arial" pitchFamily="34" charset="-122"/>
                <a:cs typeface="Arial" pitchFamily="34" charset="-120"/>
              </a:rPr>
              <a:t>🏛️ सार्वजनिक सेवाएं (Railways, Post Offices &amp; Banks)</a:t>
            </a:r>
            <a:endParaRPr lang="en-US" sz="1600" dirty="0"/>
          </a:p>
        </p:txBody>
      </p:sp>
      <p:sp>
        <p:nvSpPr>
          <p:cNvPr id="15" name="Text 13"/>
          <p:cNvSpPr/>
          <p:nvPr/>
        </p:nvSpPr>
        <p:spPr>
          <a:xfrm>
            <a:off x="1005840" y="5303520"/>
            <a:ext cx="10058400" cy="594360"/>
          </a:xfrm>
          <a:prstGeom prst="rect">
            <a:avLst/>
          </a:prstGeom>
          <a:noFill/>
          <a:ln/>
        </p:spPr>
        <p:txBody>
          <a:bodyPr wrap="square" rtlCol="0" anchor="ctr"/>
          <a:lstStyle/>
          <a:p>
            <a:pPr indent="0" marL="0">
              <a:lnSpc>
                <a:spcPts val="1600"/>
              </a:lnSpc>
              <a:buNone/>
            </a:pPr>
            <a:r>
              <a:rPr lang="en-US" sz="1200" dirty="0">
                <a:solidFill>
                  <a:srgbClr val="F8FAFC"/>
                </a:solidFill>
                <a:latin typeface="Arial" pitchFamily="34" charset="0"/>
                <a:ea typeface="Arial" pitchFamily="34" charset="-122"/>
                <a:cs typeface="Arial" pitchFamily="34" charset="-120"/>
              </a:rPr>
              <a:t>रेलवे टिकट खिड़कियों, बैंकों और सरकारी सेवा केंद्रों पर बिना किसी हार्डवेयर खरीदे, सिर्फ ब्राउज़र लिंक खोलकर 24x7 एक्टिव।</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10B981"/>
          </a:solidFill>
          <a:ln/>
        </p:spPr>
      </p:sp>
      <p:sp>
        <p:nvSpPr>
          <p:cNvPr id="3" name="Text 1"/>
          <p:cNvSpPr/>
          <p:nvPr/>
        </p:nvSpPr>
        <p:spPr>
          <a:xfrm>
            <a:off x="731520" y="411480"/>
            <a:ext cx="5486400" cy="320040"/>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ENGINEERING EXCELLENCE</a:t>
            </a:r>
            <a:endParaRPr lang="en-US" sz="1000" dirty="0"/>
          </a:p>
        </p:txBody>
      </p:sp>
      <p:sp>
        <p:nvSpPr>
          <p:cNvPr id="4" name="Text 2"/>
          <p:cNvSpPr/>
          <p:nvPr/>
        </p:nvSpPr>
        <p:spPr>
          <a:xfrm>
            <a:off x="731520" y="731520"/>
            <a:ext cx="10515600" cy="594360"/>
          </a:xfrm>
          <a:prstGeom prst="rect">
            <a:avLst/>
          </a:prstGeom>
          <a:noFill/>
          <a:ln/>
        </p:spPr>
        <p:txBody>
          <a:bodyPr wrap="square" rtlCol="0" anchor="ctr"/>
          <a:lstStyle/>
          <a:p>
            <a:pPr indent="0" marL="0">
              <a:buNone/>
            </a:pPr>
            <a:r>
              <a:rPr lang="en-US" sz="2600" b="1" dirty="0">
                <a:solidFill>
                  <a:srgbClr val="F8FAFC"/>
                </a:solidFill>
                <a:latin typeface="Arial" pitchFamily="34" charset="0"/>
                <a:ea typeface="Arial" pitchFamily="34" charset="-122"/>
                <a:cs typeface="Arial" pitchFamily="34" charset="-120"/>
              </a:rPr>
              <a:t>Tech Stack &amp; 100% Privacy by Design</a:t>
            </a:r>
            <a:endParaRPr lang="en-US" sz="2600" dirty="0"/>
          </a:p>
        </p:txBody>
      </p:sp>
      <p:sp>
        <p:nvSpPr>
          <p:cNvPr id="5" name="Text 3"/>
          <p:cNvSpPr/>
          <p:nvPr/>
        </p:nvSpPr>
        <p:spPr>
          <a:xfrm>
            <a:off x="731520" y="1325880"/>
            <a:ext cx="10515600" cy="36576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State-of-the-art web capabilities with zero server streaming bandwidth</a:t>
            </a:r>
            <a:endParaRPr lang="en-US" sz="1300" dirty="0"/>
          </a:p>
        </p:txBody>
      </p:sp>
      <p:sp>
        <p:nvSpPr>
          <p:cNvPr id="6" name="Text 4"/>
          <p:cNvSpPr/>
          <p:nvPr/>
        </p:nvSpPr>
        <p:spPr>
          <a:xfrm>
            <a:off x="731520" y="6492240"/>
            <a:ext cx="822960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बोली-साइन (BoliSign) • Real-Time ISL to Hindi Speech • Hackathon 2026</a:t>
            </a:r>
            <a:endParaRPr lang="en-US" sz="900" dirty="0"/>
          </a:p>
        </p:txBody>
      </p:sp>
      <p:sp>
        <p:nvSpPr>
          <p:cNvPr id="7" name="Shape 5"/>
          <p:cNvSpPr/>
          <p:nvPr/>
        </p:nvSpPr>
        <p:spPr>
          <a:xfrm>
            <a:off x="731520" y="1920240"/>
            <a:ext cx="5239512" cy="1234440"/>
          </a:xfrm>
          <a:prstGeom prst="roundRect">
            <a:avLst>
              <a:gd name="adj" fmla="val 7407"/>
            </a:avLst>
          </a:prstGeom>
          <a:solidFill>
            <a:srgbClr val="1C2541"/>
          </a:solidFill>
          <a:ln w="12700">
            <a:solidFill>
              <a:srgbClr val="38BDF8"/>
            </a:solidFill>
            <a:prstDash val="solid"/>
          </a:ln>
        </p:spPr>
      </p:sp>
      <p:sp>
        <p:nvSpPr>
          <p:cNvPr id="8" name="Text 6"/>
          <p:cNvSpPr/>
          <p:nvPr/>
        </p:nvSpPr>
        <p:spPr>
          <a:xfrm>
            <a:off x="1005840" y="2084832"/>
            <a:ext cx="4663440" cy="320040"/>
          </a:xfrm>
          <a:prstGeom prst="rect">
            <a:avLst/>
          </a:prstGeom>
          <a:noFill/>
          <a:ln/>
        </p:spPr>
        <p:txBody>
          <a:bodyPr wrap="square" rtlCol="0" anchor="ctr"/>
          <a:lstStyle/>
          <a:p>
            <a:pPr indent="0" marL="0">
              <a:buNone/>
            </a:pPr>
            <a:r>
              <a:rPr lang="en-US" sz="1300" b="1" dirty="0">
                <a:solidFill>
                  <a:srgbClr val="38BDF8"/>
                </a:solidFill>
                <a:latin typeface="Arial" pitchFamily="34" charset="0"/>
                <a:ea typeface="Arial" pitchFamily="34" charset="-122"/>
                <a:cs typeface="Arial" pitchFamily="34" charset="-120"/>
              </a:rPr>
              <a:t>Frontend Framework</a:t>
            </a:r>
            <a:endParaRPr lang="en-US" sz="1300" dirty="0"/>
          </a:p>
        </p:txBody>
      </p:sp>
      <p:sp>
        <p:nvSpPr>
          <p:cNvPr id="9" name="Text 7"/>
          <p:cNvSpPr/>
          <p:nvPr/>
        </p:nvSpPr>
        <p:spPr>
          <a:xfrm>
            <a:off x="1005840" y="2423160"/>
            <a:ext cx="4663440" cy="594360"/>
          </a:xfrm>
          <a:prstGeom prst="rect">
            <a:avLst/>
          </a:prstGeom>
          <a:noFill/>
          <a:ln/>
        </p:spPr>
        <p:txBody>
          <a:bodyPr wrap="square" rtlCol="0" anchor="ctr"/>
          <a:lstStyle/>
          <a:p>
            <a:pPr indent="0" marL="0">
              <a:lnSpc>
                <a:spcPts val="1500"/>
              </a:lnSpc>
              <a:buNone/>
            </a:pPr>
            <a:r>
              <a:rPr lang="en-US" sz="1100" dirty="0">
                <a:solidFill>
                  <a:srgbClr val="F8FAFC"/>
                </a:solidFill>
                <a:latin typeface="Arial" pitchFamily="34" charset="0"/>
                <a:ea typeface="Arial" pitchFamily="34" charset="-122"/>
                <a:cs typeface="Arial" pitchFamily="34" charset="-120"/>
              </a:rPr>
              <a:t>Next.js 14 App Router, React 18, TypeScript</a:t>
            </a:r>
            <a:endParaRPr lang="en-US" sz="1100" dirty="0"/>
          </a:p>
        </p:txBody>
      </p:sp>
      <p:sp>
        <p:nvSpPr>
          <p:cNvPr id="10" name="Shape 8"/>
          <p:cNvSpPr/>
          <p:nvPr/>
        </p:nvSpPr>
        <p:spPr>
          <a:xfrm>
            <a:off x="6217920" y="1920240"/>
            <a:ext cx="5239512" cy="1234440"/>
          </a:xfrm>
          <a:prstGeom prst="roundRect">
            <a:avLst>
              <a:gd name="adj" fmla="val 7407"/>
            </a:avLst>
          </a:prstGeom>
          <a:solidFill>
            <a:srgbClr val="1C2541"/>
          </a:solidFill>
          <a:ln w="12700">
            <a:solidFill>
              <a:srgbClr val="10B981"/>
            </a:solidFill>
            <a:prstDash val="solid"/>
          </a:ln>
        </p:spPr>
      </p:sp>
      <p:sp>
        <p:nvSpPr>
          <p:cNvPr id="11" name="Text 9"/>
          <p:cNvSpPr/>
          <p:nvPr/>
        </p:nvSpPr>
        <p:spPr>
          <a:xfrm>
            <a:off x="6492240" y="2084832"/>
            <a:ext cx="4663440" cy="320040"/>
          </a:xfrm>
          <a:prstGeom prst="rect">
            <a:avLst/>
          </a:prstGeom>
          <a:noFill/>
          <a:ln/>
        </p:spPr>
        <p:txBody>
          <a:bodyPr wrap="square" rtlCol="0" anchor="ctr"/>
          <a:lstStyle/>
          <a:p>
            <a:pPr indent="0" marL="0">
              <a:buNone/>
            </a:pPr>
            <a:r>
              <a:rPr lang="en-US" sz="1300" b="1" dirty="0">
                <a:solidFill>
                  <a:srgbClr val="10B981"/>
                </a:solidFill>
                <a:latin typeface="Arial" pitchFamily="34" charset="0"/>
                <a:ea typeface="Arial" pitchFamily="34" charset="-122"/>
                <a:cs typeface="Arial" pitchFamily="34" charset="-120"/>
              </a:rPr>
              <a:t>Vision &amp; Keypoint Tracking</a:t>
            </a:r>
            <a:endParaRPr lang="en-US" sz="1300" dirty="0"/>
          </a:p>
        </p:txBody>
      </p:sp>
      <p:sp>
        <p:nvSpPr>
          <p:cNvPr id="12" name="Text 10"/>
          <p:cNvSpPr/>
          <p:nvPr/>
        </p:nvSpPr>
        <p:spPr>
          <a:xfrm>
            <a:off x="6492240" y="2423160"/>
            <a:ext cx="4663440" cy="594360"/>
          </a:xfrm>
          <a:prstGeom prst="rect">
            <a:avLst/>
          </a:prstGeom>
          <a:noFill/>
          <a:ln/>
        </p:spPr>
        <p:txBody>
          <a:bodyPr wrap="square" rtlCol="0" anchor="ctr"/>
          <a:lstStyle/>
          <a:p>
            <a:pPr indent="0" marL="0">
              <a:lnSpc>
                <a:spcPts val="1500"/>
              </a:lnSpc>
              <a:buNone/>
            </a:pPr>
            <a:r>
              <a:rPr lang="en-US" sz="1100" dirty="0">
                <a:solidFill>
                  <a:srgbClr val="F8FAFC"/>
                </a:solidFill>
                <a:latin typeface="Arial" pitchFamily="34" charset="0"/>
                <a:ea typeface="Arial" pitchFamily="34" charset="-122"/>
                <a:cs typeface="Arial" pitchFamily="34" charset="-120"/>
              </a:rPr>
              <a:t>MediaPipe Hands (21 3D Landmarks) + Face Mesh via WebGL/Wasm</a:t>
            </a:r>
            <a:endParaRPr lang="en-US" sz="1100" dirty="0"/>
          </a:p>
        </p:txBody>
      </p:sp>
      <p:sp>
        <p:nvSpPr>
          <p:cNvPr id="13" name="Shape 11"/>
          <p:cNvSpPr/>
          <p:nvPr/>
        </p:nvSpPr>
        <p:spPr>
          <a:xfrm>
            <a:off x="731520" y="3337560"/>
            <a:ext cx="5239512" cy="1234440"/>
          </a:xfrm>
          <a:prstGeom prst="roundRect">
            <a:avLst>
              <a:gd name="adj" fmla="val 7407"/>
            </a:avLst>
          </a:prstGeom>
          <a:solidFill>
            <a:srgbClr val="1C2541"/>
          </a:solidFill>
          <a:ln w="12700">
            <a:solidFill>
              <a:srgbClr val="F59E0B"/>
            </a:solidFill>
            <a:prstDash val="solid"/>
          </a:ln>
        </p:spPr>
      </p:sp>
      <p:sp>
        <p:nvSpPr>
          <p:cNvPr id="14" name="Text 12"/>
          <p:cNvSpPr/>
          <p:nvPr/>
        </p:nvSpPr>
        <p:spPr>
          <a:xfrm>
            <a:off x="1005840" y="3502152"/>
            <a:ext cx="4663440" cy="320040"/>
          </a:xfrm>
          <a:prstGeom prst="rect">
            <a:avLst/>
          </a:prstGeom>
          <a:noFill/>
          <a:ln/>
        </p:spPr>
        <p:txBody>
          <a:bodyPr wrap="square" rtlCol="0" anchor="ctr"/>
          <a:lstStyle/>
          <a:p>
            <a:pPr indent="0" marL="0">
              <a:buNone/>
            </a:pPr>
            <a:r>
              <a:rPr lang="en-US" sz="1300" b="1" dirty="0">
                <a:solidFill>
                  <a:srgbClr val="F59E0B"/>
                </a:solidFill>
                <a:latin typeface="Arial" pitchFamily="34" charset="0"/>
                <a:ea typeface="Arial" pitchFamily="34" charset="-122"/>
                <a:cs typeface="Arial" pitchFamily="34" charset="-120"/>
              </a:rPr>
              <a:t>Audio &amp; Speech Engine</a:t>
            </a:r>
            <a:endParaRPr lang="en-US" sz="1300" dirty="0"/>
          </a:p>
        </p:txBody>
      </p:sp>
      <p:sp>
        <p:nvSpPr>
          <p:cNvPr id="15" name="Text 13"/>
          <p:cNvSpPr/>
          <p:nvPr/>
        </p:nvSpPr>
        <p:spPr>
          <a:xfrm>
            <a:off x="1005840" y="3840480"/>
            <a:ext cx="4663440" cy="594360"/>
          </a:xfrm>
          <a:prstGeom prst="rect">
            <a:avLst/>
          </a:prstGeom>
          <a:noFill/>
          <a:ln/>
        </p:spPr>
        <p:txBody>
          <a:bodyPr wrap="square" rtlCol="0" anchor="ctr"/>
          <a:lstStyle/>
          <a:p>
            <a:pPr indent="0" marL="0">
              <a:lnSpc>
                <a:spcPts val="1500"/>
              </a:lnSpc>
              <a:buNone/>
            </a:pPr>
            <a:r>
              <a:rPr lang="en-US" sz="1100" dirty="0">
                <a:solidFill>
                  <a:srgbClr val="F8FAFC"/>
                </a:solidFill>
                <a:latin typeface="Arial" pitchFamily="34" charset="0"/>
                <a:ea typeface="Arial" pitchFamily="34" charset="-122"/>
                <a:cs typeface="Arial" pitchFamily="34" charset="-120"/>
              </a:rPr>
              <a:t>Web Audio API (Synthesizer Beeps), Web Speech Synthesis (hi-IN)</a:t>
            </a:r>
            <a:endParaRPr lang="en-US" sz="1100" dirty="0"/>
          </a:p>
        </p:txBody>
      </p:sp>
      <p:sp>
        <p:nvSpPr>
          <p:cNvPr id="16" name="Shape 14"/>
          <p:cNvSpPr/>
          <p:nvPr/>
        </p:nvSpPr>
        <p:spPr>
          <a:xfrm>
            <a:off x="6217920" y="3337560"/>
            <a:ext cx="5239512" cy="1234440"/>
          </a:xfrm>
          <a:prstGeom prst="roundRect">
            <a:avLst>
              <a:gd name="adj" fmla="val 7407"/>
            </a:avLst>
          </a:prstGeom>
          <a:solidFill>
            <a:srgbClr val="1C2541"/>
          </a:solidFill>
          <a:ln w="12700">
            <a:solidFill>
              <a:srgbClr val="A855F7"/>
            </a:solidFill>
            <a:prstDash val="solid"/>
          </a:ln>
        </p:spPr>
      </p:sp>
      <p:sp>
        <p:nvSpPr>
          <p:cNvPr id="17" name="Text 15"/>
          <p:cNvSpPr/>
          <p:nvPr/>
        </p:nvSpPr>
        <p:spPr>
          <a:xfrm>
            <a:off x="6492240" y="3502152"/>
            <a:ext cx="4663440" cy="320040"/>
          </a:xfrm>
          <a:prstGeom prst="rect">
            <a:avLst/>
          </a:prstGeom>
          <a:noFill/>
          <a:ln/>
        </p:spPr>
        <p:txBody>
          <a:bodyPr wrap="square" rtlCol="0" anchor="ctr"/>
          <a:lstStyle/>
          <a:p>
            <a:pPr indent="0" marL="0">
              <a:buNone/>
            </a:pPr>
            <a:r>
              <a:rPr lang="en-US" sz="1300" b="1" dirty="0">
                <a:solidFill>
                  <a:srgbClr val="A855F7"/>
                </a:solidFill>
                <a:latin typeface="Arial" pitchFamily="34" charset="0"/>
                <a:ea typeface="Arial" pitchFamily="34" charset="-122"/>
                <a:cs typeface="Arial" pitchFamily="34" charset="-120"/>
              </a:rPr>
              <a:t>AI Sentence Generator</a:t>
            </a:r>
            <a:endParaRPr lang="en-US" sz="1300" dirty="0"/>
          </a:p>
        </p:txBody>
      </p:sp>
      <p:sp>
        <p:nvSpPr>
          <p:cNvPr id="18" name="Text 16"/>
          <p:cNvSpPr/>
          <p:nvPr/>
        </p:nvSpPr>
        <p:spPr>
          <a:xfrm>
            <a:off x="6492240" y="3840480"/>
            <a:ext cx="4663440" cy="594360"/>
          </a:xfrm>
          <a:prstGeom prst="rect">
            <a:avLst/>
          </a:prstGeom>
          <a:noFill/>
          <a:ln/>
        </p:spPr>
        <p:txBody>
          <a:bodyPr wrap="square" rtlCol="0" anchor="ctr"/>
          <a:lstStyle/>
          <a:p>
            <a:pPr indent="0" marL="0">
              <a:lnSpc>
                <a:spcPts val="1500"/>
              </a:lnSpc>
              <a:buNone/>
            </a:pPr>
            <a:r>
              <a:rPr lang="en-US" sz="1100" dirty="0">
                <a:solidFill>
                  <a:srgbClr val="F8FAFC"/>
                </a:solidFill>
                <a:latin typeface="Arial" pitchFamily="34" charset="0"/>
                <a:ea typeface="Arial" pitchFamily="34" charset="-122"/>
                <a:cs typeface="Arial" pitchFamily="34" charset="-120"/>
              </a:rPr>
              <a:t>Gemini Generative AI Language Models for natural Hindi NLP</a:t>
            </a:r>
            <a:endParaRPr lang="en-US" sz="1100" dirty="0"/>
          </a:p>
        </p:txBody>
      </p:sp>
      <p:sp>
        <p:nvSpPr>
          <p:cNvPr id="19" name="Shape 17"/>
          <p:cNvSpPr/>
          <p:nvPr/>
        </p:nvSpPr>
        <p:spPr>
          <a:xfrm>
            <a:off x="731520" y="4754880"/>
            <a:ext cx="5239512" cy="1234440"/>
          </a:xfrm>
          <a:prstGeom prst="roundRect">
            <a:avLst>
              <a:gd name="adj" fmla="val 7407"/>
            </a:avLst>
          </a:prstGeom>
          <a:solidFill>
            <a:srgbClr val="1C2541"/>
          </a:solidFill>
          <a:ln w="12700">
            <a:solidFill>
              <a:srgbClr val="EF4444"/>
            </a:solidFill>
            <a:prstDash val="solid"/>
          </a:ln>
        </p:spPr>
      </p:sp>
      <p:sp>
        <p:nvSpPr>
          <p:cNvPr id="20" name="Text 18"/>
          <p:cNvSpPr/>
          <p:nvPr/>
        </p:nvSpPr>
        <p:spPr>
          <a:xfrm>
            <a:off x="1005840" y="4919472"/>
            <a:ext cx="4663440" cy="320040"/>
          </a:xfrm>
          <a:prstGeom prst="rect">
            <a:avLst/>
          </a:prstGeom>
          <a:noFill/>
          <a:ln/>
        </p:spPr>
        <p:txBody>
          <a:bodyPr wrap="square" rtlCol="0" anchor="ctr"/>
          <a:lstStyle/>
          <a:p>
            <a:pPr indent="0" marL="0">
              <a:buNone/>
            </a:pPr>
            <a:r>
              <a:rPr lang="en-US" sz="1300" b="1" dirty="0">
                <a:solidFill>
                  <a:srgbClr val="EF4444"/>
                </a:solidFill>
                <a:latin typeface="Arial" pitchFamily="34" charset="0"/>
                <a:ea typeface="Arial" pitchFamily="34" charset="-122"/>
                <a:cs typeface="Arial" pitchFamily="34" charset="-120"/>
              </a:rPr>
              <a:t>100% Privacy by Design</a:t>
            </a:r>
            <a:endParaRPr lang="en-US" sz="1300" dirty="0"/>
          </a:p>
        </p:txBody>
      </p:sp>
      <p:sp>
        <p:nvSpPr>
          <p:cNvPr id="21" name="Text 19"/>
          <p:cNvSpPr/>
          <p:nvPr/>
        </p:nvSpPr>
        <p:spPr>
          <a:xfrm>
            <a:off x="1005840" y="5257800"/>
            <a:ext cx="4663440" cy="594360"/>
          </a:xfrm>
          <a:prstGeom prst="rect">
            <a:avLst/>
          </a:prstGeom>
          <a:noFill/>
          <a:ln/>
        </p:spPr>
        <p:txBody>
          <a:bodyPr wrap="square" rtlCol="0" anchor="ctr"/>
          <a:lstStyle/>
          <a:p>
            <a:pPr indent="0" marL="0">
              <a:lnSpc>
                <a:spcPts val="1500"/>
              </a:lnSpc>
              <a:buNone/>
            </a:pPr>
            <a:r>
              <a:rPr lang="en-US" sz="1100" dirty="0">
                <a:solidFill>
                  <a:srgbClr val="F8FAFC"/>
                </a:solidFill>
                <a:latin typeface="Arial" pitchFamily="34" charset="0"/>
                <a:ea typeface="Arial" pitchFamily="34" charset="-122"/>
                <a:cs typeface="Arial" pitchFamily="34" charset="-120"/>
              </a:rPr>
              <a:t>नो-वीडियो स्ट्रीमिंग: कैमरा फीड कभी यूजर की डिवाइस से बाहर नहीं जाती</a:t>
            </a:r>
            <a:endParaRPr lang="en-US" sz="1100" dirty="0"/>
          </a:p>
        </p:txBody>
      </p:sp>
      <p:sp>
        <p:nvSpPr>
          <p:cNvPr id="22" name="Shape 20"/>
          <p:cNvSpPr/>
          <p:nvPr/>
        </p:nvSpPr>
        <p:spPr>
          <a:xfrm>
            <a:off x="6217920" y="4754880"/>
            <a:ext cx="5239512" cy="1234440"/>
          </a:xfrm>
          <a:prstGeom prst="roundRect">
            <a:avLst>
              <a:gd name="adj" fmla="val 7407"/>
            </a:avLst>
          </a:prstGeom>
          <a:solidFill>
            <a:srgbClr val="1C2541"/>
          </a:solidFill>
          <a:ln w="12700">
            <a:solidFill>
              <a:srgbClr val="10B981"/>
            </a:solidFill>
            <a:prstDash val="solid"/>
          </a:ln>
        </p:spPr>
      </p:sp>
      <p:sp>
        <p:nvSpPr>
          <p:cNvPr id="23" name="Text 21"/>
          <p:cNvSpPr/>
          <p:nvPr/>
        </p:nvSpPr>
        <p:spPr>
          <a:xfrm>
            <a:off x="6492240" y="4919472"/>
            <a:ext cx="4663440" cy="320040"/>
          </a:xfrm>
          <a:prstGeom prst="rect">
            <a:avLst/>
          </a:prstGeom>
          <a:noFill/>
          <a:ln/>
        </p:spPr>
        <p:txBody>
          <a:bodyPr wrap="square" rtlCol="0" anchor="ctr"/>
          <a:lstStyle/>
          <a:p>
            <a:pPr indent="0" marL="0">
              <a:buNone/>
            </a:pPr>
            <a:r>
              <a:rPr lang="en-US" sz="1300" b="1" dirty="0">
                <a:solidFill>
                  <a:srgbClr val="10B981"/>
                </a:solidFill>
                <a:latin typeface="Arial" pitchFamily="34" charset="0"/>
                <a:ea typeface="Arial" pitchFamily="34" charset="-122"/>
                <a:cs typeface="Arial" pitchFamily="34" charset="-120"/>
              </a:rPr>
              <a:t>Zero Hardware Footprint</a:t>
            </a:r>
            <a:endParaRPr lang="en-US" sz="1300" dirty="0"/>
          </a:p>
        </p:txBody>
      </p:sp>
      <p:sp>
        <p:nvSpPr>
          <p:cNvPr id="24" name="Text 22"/>
          <p:cNvSpPr/>
          <p:nvPr/>
        </p:nvSpPr>
        <p:spPr>
          <a:xfrm>
            <a:off x="6492240" y="5257800"/>
            <a:ext cx="4663440" cy="594360"/>
          </a:xfrm>
          <a:prstGeom prst="rect">
            <a:avLst/>
          </a:prstGeom>
          <a:noFill/>
          <a:ln/>
        </p:spPr>
        <p:txBody>
          <a:bodyPr wrap="square" rtlCol="0" anchor="ctr"/>
          <a:lstStyle/>
          <a:p>
            <a:pPr indent="0" marL="0">
              <a:lnSpc>
                <a:spcPts val="1500"/>
              </a:lnSpc>
              <a:buNone/>
            </a:pPr>
            <a:r>
              <a:rPr lang="en-US" sz="1100" dirty="0">
                <a:solidFill>
                  <a:srgbClr val="F8FAFC"/>
                </a:solidFill>
                <a:latin typeface="Arial" pitchFamily="34" charset="0"/>
                <a:ea typeface="Arial" pitchFamily="34" charset="-122"/>
                <a:cs typeface="Arial" pitchFamily="34" charset="-120"/>
              </a:rPr>
              <a:t>किसी भी 4G/5G फोन, टैबलेट, क्रोमबुक या लैपटॉप पर इंस्टेंट रन</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0C1B"/>
        </a:solidFill>
      </p:bgPr>
    </p:bg>
    <p:spTree>
      <p:nvGrpSpPr>
        <p:cNvPr id="1" name=""/>
        <p:cNvGrpSpPr/>
        <p:nvPr/>
      </p:nvGrpSpPr>
      <p:grpSpPr>
        <a:xfrm>
          <a:off x="0" y="0"/>
          <a:ext cx="0" cy="0"/>
          <a:chOff x="0" y="0"/>
          <a:chExt cx="0" cy="0"/>
        </a:xfrm>
      </p:grpSpPr>
      <p:sp>
        <p:nvSpPr>
          <p:cNvPr id="2" name="Shape 0"/>
          <p:cNvSpPr/>
          <p:nvPr/>
        </p:nvSpPr>
        <p:spPr>
          <a:xfrm>
            <a:off x="0" y="0"/>
            <a:ext cx="12188952" cy="137160"/>
          </a:xfrm>
          <a:prstGeom prst="rect">
            <a:avLst/>
          </a:prstGeom>
          <a:solidFill>
            <a:srgbClr val="10B981"/>
          </a:solidFill>
          <a:ln/>
        </p:spPr>
      </p:sp>
      <p:sp>
        <p:nvSpPr>
          <p:cNvPr id="3" name="Shape 1"/>
          <p:cNvSpPr/>
          <p:nvPr/>
        </p:nvSpPr>
        <p:spPr>
          <a:xfrm>
            <a:off x="5404104" y="1097280"/>
            <a:ext cx="1371600" cy="1371600"/>
          </a:xfrm>
          <a:prstGeom prst="ellipse">
            <a:avLst/>
          </a:prstGeom>
          <a:solidFill>
            <a:srgbClr val="142238"/>
          </a:solidFill>
          <a:ln w="25400">
            <a:solidFill>
              <a:srgbClr val="10B981"/>
            </a:solidFill>
            <a:prstDash val="solid"/>
          </a:ln>
        </p:spPr>
      </p:sp>
      <p:sp>
        <p:nvSpPr>
          <p:cNvPr id="4" name="Text 2"/>
          <p:cNvSpPr/>
          <p:nvPr/>
        </p:nvSpPr>
        <p:spPr>
          <a:xfrm>
            <a:off x="5404104" y="1234440"/>
            <a:ext cx="1371600" cy="1097280"/>
          </a:xfrm>
          <a:prstGeom prst="rect">
            <a:avLst/>
          </a:prstGeom>
          <a:noFill/>
          <a:ln/>
        </p:spPr>
        <p:txBody>
          <a:bodyPr wrap="square" rtlCol="0" anchor="ctr"/>
          <a:lstStyle/>
          <a:p>
            <a:pPr algn="ctr" indent="0" marL="0">
              <a:buNone/>
            </a:pPr>
            <a:r>
              <a:rPr lang="en-US" sz="4400" dirty="0">
                <a:solidFill>
                  <a:srgbClr val="000000"/>
                </a:solidFill>
                <a:latin typeface="Arial" pitchFamily="34" charset="0"/>
                <a:ea typeface="Arial" pitchFamily="34" charset="-122"/>
                <a:cs typeface="Arial" pitchFamily="34" charset="-120"/>
              </a:rPr>
              <a:t>🏆</a:t>
            </a:r>
            <a:endParaRPr lang="en-US" sz="4400" dirty="0"/>
          </a:p>
        </p:txBody>
      </p:sp>
      <p:sp>
        <p:nvSpPr>
          <p:cNvPr id="5" name="Text 3"/>
          <p:cNvSpPr/>
          <p:nvPr/>
        </p:nvSpPr>
        <p:spPr>
          <a:xfrm>
            <a:off x="914400" y="2743200"/>
            <a:ext cx="10360152" cy="1188720"/>
          </a:xfrm>
          <a:prstGeom prst="rect">
            <a:avLst/>
          </a:prstGeom>
          <a:noFill/>
          <a:ln/>
        </p:spPr>
        <p:txBody>
          <a:bodyPr wrap="square" rtlCol="0" anchor="ctr"/>
          <a:lstStyle/>
          <a:p>
            <a:pPr algn="ctr" indent="0" marL="0">
              <a:buNone/>
            </a:pPr>
            <a:r>
              <a:rPr lang="en-US" sz="3400" b="1" dirty="0">
                <a:solidFill>
                  <a:srgbClr val="F8FAFC"/>
                </a:solidFill>
                <a:latin typeface="Arial" pitchFamily="34" charset="0"/>
                <a:ea typeface="Arial" pitchFamily="34" charset="-122"/>
                <a:cs typeface="Arial" pitchFamily="34" charset="-120"/>
              </a:rPr>
              <a:t>"हर इशारे को मिले आवाज़,</a:t>
            </a:r>
            <a:endParaRPr lang="en-US" sz="3400" dirty="0"/>
          </a:p>
          <a:p>
            <a:pPr algn="ctr" indent="0" marL="0">
              <a:buNone/>
            </a:pPr>
            <a:r>
              <a:rPr lang="en-US" sz="3400" b="1" dirty="0">
                <a:solidFill>
                  <a:srgbClr val="F8FAFC"/>
                </a:solidFill>
                <a:latin typeface="Arial" pitchFamily="34" charset="0"/>
                <a:ea typeface="Arial" pitchFamily="34" charset="-122"/>
                <a:cs typeface="Arial" pitchFamily="34" charset="-120"/>
              </a:rPr>
              <a:t>हर नागरिक को मिले सम्मान"</a:t>
            </a:r>
            <a:endParaRPr lang="en-US" sz="3400" dirty="0"/>
          </a:p>
        </p:txBody>
      </p:sp>
      <p:sp>
        <p:nvSpPr>
          <p:cNvPr id="6" name="Text 4"/>
          <p:cNvSpPr/>
          <p:nvPr/>
        </p:nvSpPr>
        <p:spPr>
          <a:xfrm>
            <a:off x="1371600" y="4023360"/>
            <a:ext cx="9445752" cy="548640"/>
          </a:xfrm>
          <a:prstGeom prst="rect">
            <a:avLst/>
          </a:prstGeom>
          <a:noFill/>
          <a:ln/>
        </p:spPr>
        <p:txBody>
          <a:bodyPr wrap="square" rtlCol="0" anchor="ctr"/>
          <a:lstStyle/>
          <a:p>
            <a:pPr algn="ctr" indent="0" marL="0">
              <a:buNone/>
            </a:pPr>
            <a:r>
              <a:rPr lang="en-US" sz="1500" dirty="0">
                <a:solidFill>
                  <a:srgbClr val="94A3B8"/>
                </a:solidFill>
                <a:latin typeface="Arial" pitchFamily="34" charset="0"/>
                <a:ea typeface="Arial" pitchFamily="34" charset="-122"/>
                <a:cs typeface="Arial" pitchFamily="34" charset="-120"/>
              </a:rPr>
              <a:t>BoliSign is not just a hackathon prototype — it is an accessible future for 1.8 Crore citizens.</a:t>
            </a:r>
            <a:endParaRPr lang="en-US" sz="1500" dirty="0"/>
          </a:p>
        </p:txBody>
      </p:sp>
      <p:sp>
        <p:nvSpPr>
          <p:cNvPr id="7" name="Shape 5"/>
          <p:cNvSpPr/>
          <p:nvPr/>
        </p:nvSpPr>
        <p:spPr>
          <a:xfrm>
            <a:off x="2889504" y="4754880"/>
            <a:ext cx="6400800" cy="1097280"/>
          </a:xfrm>
          <a:prstGeom prst="roundRect">
            <a:avLst>
              <a:gd name="adj" fmla="val 12500"/>
            </a:avLst>
          </a:prstGeom>
          <a:solidFill>
            <a:srgbClr val="1C2541"/>
          </a:solidFill>
          <a:ln w="25400">
            <a:solidFill>
              <a:srgbClr val="38BDF8"/>
            </a:solidFill>
            <a:prstDash val="solid"/>
          </a:ln>
        </p:spPr>
      </p:sp>
      <p:sp>
        <p:nvSpPr>
          <p:cNvPr id="8" name="Text 6"/>
          <p:cNvSpPr/>
          <p:nvPr/>
        </p:nvSpPr>
        <p:spPr>
          <a:xfrm>
            <a:off x="2889504" y="4892040"/>
            <a:ext cx="6400800" cy="320040"/>
          </a:xfrm>
          <a:prstGeom prst="rect">
            <a:avLst/>
          </a:prstGeom>
          <a:noFill/>
          <a:ln/>
        </p:spPr>
        <p:txBody>
          <a:bodyPr wrap="square" rtlCol="0" anchor="ctr"/>
          <a:lstStyle/>
          <a:p>
            <a:pPr algn="ctr" indent="0" marL="0">
              <a:buNone/>
            </a:pPr>
            <a:r>
              <a:rPr lang="en-US" sz="1200" b="1" dirty="0">
                <a:solidFill>
                  <a:srgbClr val="10B981"/>
                </a:solidFill>
                <a:latin typeface="Arial" pitchFamily="34" charset="0"/>
                <a:ea typeface="Arial" pitchFamily="34" charset="-122"/>
                <a:cs typeface="Arial" pitchFamily="34" charset="-120"/>
              </a:rPr>
              <a:t>🌐 LIVE INTERACTIVE DEMO READY</a:t>
            </a:r>
            <a:endParaRPr lang="en-US" sz="1200" dirty="0"/>
          </a:p>
        </p:txBody>
      </p:sp>
      <p:sp>
        <p:nvSpPr>
          <p:cNvPr id="9" name="Text 7"/>
          <p:cNvSpPr/>
          <p:nvPr/>
        </p:nvSpPr>
        <p:spPr>
          <a:xfrm>
            <a:off x="2889504" y="5257800"/>
            <a:ext cx="6400800" cy="411480"/>
          </a:xfrm>
          <a:prstGeom prst="rect">
            <a:avLst/>
          </a:prstGeom>
          <a:noFill/>
          <a:ln/>
        </p:spPr>
        <p:txBody>
          <a:bodyPr wrap="square" rtlCol="0" anchor="ctr"/>
          <a:lstStyle/>
          <a:p>
            <a:pPr algn="ctr" indent="0" marL="0">
              <a:buNone/>
            </a:pPr>
            <a:r>
              <a:rPr lang="en-US" sz="1400" b="1" dirty="0">
                <a:solidFill>
                  <a:srgbClr val="38BDF8"/>
                </a:solidFill>
                <a:latin typeface="Arial" pitchFamily="34" charset="0"/>
                <a:ea typeface="Arial" pitchFamily="34" charset="-122"/>
                <a:cs typeface="Arial" pitchFamily="34" charset="-120"/>
              </a:rPr>
              <a:t>https://fantasy-movement-sarah-offices.trycloudflare.com</a:t>
            </a:r>
            <a:endParaRPr lang="en-US" sz="1400" dirty="0"/>
          </a:p>
        </p:txBody>
      </p:sp>
      <p:sp>
        <p:nvSpPr>
          <p:cNvPr id="10" name="Text 8"/>
          <p:cNvSpPr/>
          <p:nvPr/>
        </p:nvSpPr>
        <p:spPr>
          <a:xfrm>
            <a:off x="914400" y="6217920"/>
            <a:ext cx="10360152" cy="365760"/>
          </a:xfrm>
          <a:prstGeom prst="rect">
            <a:avLst/>
          </a:prstGeom>
          <a:noFill/>
          <a:ln/>
        </p:spPr>
        <p:txBody>
          <a:bodyPr wrap="square" rtlCol="0" anchor="ctr"/>
          <a:lstStyle/>
          <a:p>
            <a:pPr algn="ctr" indent="0" marL="0">
              <a:buNone/>
            </a:pPr>
            <a:r>
              <a:rPr lang="en-US" sz="1300" b="1" dirty="0">
                <a:solidFill>
                  <a:srgbClr val="94A3B8"/>
                </a:solidFill>
                <a:latin typeface="Arial" pitchFamily="34" charset="0"/>
                <a:ea typeface="Arial" pitchFamily="34" charset="-122"/>
                <a:cs typeface="Arial" pitchFamily="34" charset="-120"/>
              </a:rPr>
              <a:t>Thank You! Open for Questions &amp; Live Demonstration.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BoliSign Assistive Tech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BoliSign: Breaking the Silence with Real-Time ISL to Hindi Speech</dc:title>
  <dc:subject>PptxGenJS Presentation</dc:subject>
  <dc:creator>BoliSign Team</dc:creator>
  <cp:lastModifiedBy>BoliSign Team</cp:lastModifiedBy>
  <cp:revision>1</cp:revision>
  <dcterms:created xsi:type="dcterms:W3CDTF">2026-10-04T15:47:52Z</dcterms:created>
  <dcterms:modified xsi:type="dcterms:W3CDTF">2026-10-04T15:47:52Z</dcterms:modified>
</cp:coreProperties>
</file>